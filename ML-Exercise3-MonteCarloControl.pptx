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592E97-8E16-45A1-AE07-95F600C39087}" type="datetimeFigureOut">
              <a:rPr lang="en-US" smtClean="0"/>
              <a:t>1/22/2026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F5DED5-B5AB-463B-8F14-AAA365800A97}" type="slidenum">
              <a:rPr lang="en-US" smtClean="0"/>
              <a:t>‹#›</a:t>
            </a:fld>
            <a:endParaRPr lang="en-US"/>
          </a:p>
        </p:txBody>
      </p:sp>
    </p:spTree>
    <p:extLst>
      <p:ext uri="{BB962C8B-B14F-4D97-AF65-F5344CB8AC3E}">
        <p14:creationId xmlns:p14="http://schemas.microsoft.com/office/powerpoint/2010/main" val="1181339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a path-finding problem where an agent must learn how to reach a target position in a grid while avoiding obstacles. The environment is episodic, and the agent does not know the dynamics in advance.</a:t>
            </a:r>
          </a:p>
        </p:txBody>
      </p:sp>
      <p:sp>
        <p:nvSpPr>
          <p:cNvPr id="4" name="Slide Number Placeholder 3"/>
          <p:cNvSpPr>
            <a:spLocks noGrp="1"/>
          </p:cNvSpPr>
          <p:nvPr>
            <p:ph type="sldNum" sz="quarter" idx="5"/>
          </p:nvPr>
        </p:nvSpPr>
        <p:spPr/>
        <p:txBody>
          <a:bodyPr/>
          <a:lstStyle/>
          <a:p>
            <a:fld id="{E7F5DED5-B5AB-463B-8F14-AAA365800A97}" type="slidenum">
              <a:rPr lang="en-US" smtClean="0"/>
              <a:t>2</a:t>
            </a:fld>
            <a:endParaRPr lang="en-US"/>
          </a:p>
        </p:txBody>
      </p:sp>
    </p:spTree>
    <p:extLst>
      <p:ext uri="{BB962C8B-B14F-4D97-AF65-F5344CB8AC3E}">
        <p14:creationId xmlns:p14="http://schemas.microsoft.com/office/powerpoint/2010/main" val="663242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 is implemented as a grid world. The agent observes its current position and chooses one of the available actions. Rewards are designed to encourage reaching the target quickly while penalizing unnecessary movement.</a:t>
            </a:r>
          </a:p>
        </p:txBody>
      </p:sp>
      <p:sp>
        <p:nvSpPr>
          <p:cNvPr id="4" name="Slide Number Placeholder 3"/>
          <p:cNvSpPr>
            <a:spLocks noGrp="1"/>
          </p:cNvSpPr>
          <p:nvPr>
            <p:ph type="sldNum" sz="quarter" idx="5"/>
          </p:nvPr>
        </p:nvSpPr>
        <p:spPr/>
        <p:txBody>
          <a:bodyPr/>
          <a:lstStyle/>
          <a:p>
            <a:fld id="{E7F5DED5-B5AB-463B-8F14-AAA365800A97}" type="slidenum">
              <a:rPr lang="en-US" smtClean="0"/>
              <a:t>3</a:t>
            </a:fld>
            <a:endParaRPr lang="en-US"/>
          </a:p>
        </p:txBody>
      </p:sp>
    </p:spTree>
    <p:extLst>
      <p:ext uri="{BB962C8B-B14F-4D97-AF65-F5344CB8AC3E}">
        <p14:creationId xmlns:p14="http://schemas.microsoft.com/office/powerpoint/2010/main" val="1650905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First-Visit Monte Carlo Control, which updates Q-values only on the first occurrence of a state–action pair in an episode. The policy is improved using an epsilon-greedy strategy to balance exploration and exploitation.</a:t>
            </a:r>
          </a:p>
        </p:txBody>
      </p:sp>
      <p:sp>
        <p:nvSpPr>
          <p:cNvPr id="4" name="Slide Number Placeholder 3"/>
          <p:cNvSpPr>
            <a:spLocks noGrp="1"/>
          </p:cNvSpPr>
          <p:nvPr>
            <p:ph type="sldNum" sz="quarter" idx="5"/>
          </p:nvPr>
        </p:nvSpPr>
        <p:spPr/>
        <p:txBody>
          <a:bodyPr/>
          <a:lstStyle/>
          <a:p>
            <a:fld id="{E7F5DED5-B5AB-463B-8F14-AAA365800A97}" type="slidenum">
              <a:rPr lang="en-US" smtClean="0"/>
              <a:t>4</a:t>
            </a:fld>
            <a:endParaRPr lang="en-US"/>
          </a:p>
        </p:txBody>
      </p:sp>
    </p:spTree>
    <p:extLst>
      <p:ext uri="{BB962C8B-B14F-4D97-AF65-F5344CB8AC3E}">
        <p14:creationId xmlns:p14="http://schemas.microsoft.com/office/powerpoint/2010/main" val="12744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explicitly define state, action, and transitions ourselves. Returns are computed after the episode ends, which is a key property of Monte Carlo methods.</a:t>
            </a:r>
          </a:p>
        </p:txBody>
      </p:sp>
      <p:sp>
        <p:nvSpPr>
          <p:cNvPr id="4" name="Slide Number Placeholder 3"/>
          <p:cNvSpPr>
            <a:spLocks noGrp="1"/>
          </p:cNvSpPr>
          <p:nvPr>
            <p:ph type="sldNum" sz="quarter" idx="5"/>
          </p:nvPr>
        </p:nvSpPr>
        <p:spPr/>
        <p:txBody>
          <a:bodyPr/>
          <a:lstStyle/>
          <a:p>
            <a:fld id="{E7F5DED5-B5AB-463B-8F14-AAA365800A97}" type="slidenum">
              <a:rPr lang="en-US" smtClean="0"/>
              <a:t>5</a:t>
            </a:fld>
            <a:endParaRPr lang="en-US"/>
          </a:p>
        </p:txBody>
      </p:sp>
    </p:spTree>
    <p:extLst>
      <p:ext uri="{BB962C8B-B14F-4D97-AF65-F5344CB8AC3E}">
        <p14:creationId xmlns:p14="http://schemas.microsoft.com/office/powerpoint/2010/main" val="3290761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Episodes are generated on-policy using ε-greedy exploration. This allows the agent to gradually shift from exploration to exploitation as training progresses.</a:t>
            </a:r>
          </a:p>
        </p:txBody>
      </p:sp>
      <p:sp>
        <p:nvSpPr>
          <p:cNvPr id="4" name="Slide Number Placeholder 3"/>
          <p:cNvSpPr>
            <a:spLocks noGrp="1"/>
          </p:cNvSpPr>
          <p:nvPr>
            <p:ph type="sldNum" sz="quarter" idx="5"/>
          </p:nvPr>
        </p:nvSpPr>
        <p:spPr/>
        <p:txBody>
          <a:bodyPr/>
          <a:lstStyle/>
          <a:p>
            <a:fld id="{E7F5DED5-B5AB-463B-8F14-AAA365800A97}" type="slidenum">
              <a:rPr lang="en-US" smtClean="0"/>
              <a:t>6</a:t>
            </a:fld>
            <a:endParaRPr lang="en-US"/>
          </a:p>
        </p:txBody>
      </p:sp>
    </p:spTree>
    <p:extLst>
      <p:ext uri="{BB962C8B-B14F-4D97-AF65-F5344CB8AC3E}">
        <p14:creationId xmlns:p14="http://schemas.microsoft.com/office/powerpoint/2010/main" val="3537574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first-visit Monte Carlo, meaning each state-action pair is updated only on its first occurrence per episode. This avoids bias from repeated visits within the same trajectory.</a:t>
            </a:r>
          </a:p>
        </p:txBody>
      </p:sp>
      <p:sp>
        <p:nvSpPr>
          <p:cNvPr id="4" name="Slide Number Placeholder 3"/>
          <p:cNvSpPr>
            <a:spLocks noGrp="1"/>
          </p:cNvSpPr>
          <p:nvPr>
            <p:ph type="sldNum" sz="quarter" idx="5"/>
          </p:nvPr>
        </p:nvSpPr>
        <p:spPr/>
        <p:txBody>
          <a:bodyPr/>
          <a:lstStyle/>
          <a:p>
            <a:fld id="{E7F5DED5-B5AB-463B-8F14-AAA365800A97}" type="slidenum">
              <a:rPr lang="en-US" smtClean="0"/>
              <a:t>7</a:t>
            </a:fld>
            <a:endParaRPr lang="en-US"/>
          </a:p>
        </p:txBody>
      </p:sp>
    </p:spTree>
    <p:extLst>
      <p:ext uri="{BB962C8B-B14F-4D97-AF65-F5344CB8AC3E}">
        <p14:creationId xmlns:p14="http://schemas.microsoft.com/office/powerpoint/2010/main" val="3721915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gradually reduce exploration using linear epsilon decay. For the hard grid, we increased both the number of episodes and the episode length, which significantly increased training time but still did not guarantee convergence.</a:t>
            </a:r>
          </a:p>
        </p:txBody>
      </p:sp>
      <p:sp>
        <p:nvSpPr>
          <p:cNvPr id="4" name="Slide Number Placeholder 3"/>
          <p:cNvSpPr>
            <a:spLocks noGrp="1"/>
          </p:cNvSpPr>
          <p:nvPr>
            <p:ph type="sldNum" sz="quarter" idx="5"/>
          </p:nvPr>
        </p:nvSpPr>
        <p:spPr/>
        <p:txBody>
          <a:bodyPr/>
          <a:lstStyle/>
          <a:p>
            <a:fld id="{E7F5DED5-B5AB-463B-8F14-AAA365800A97}" type="slidenum">
              <a:rPr lang="en-US" smtClean="0"/>
              <a:t>8</a:t>
            </a:fld>
            <a:endParaRPr lang="en-US"/>
          </a:p>
        </p:txBody>
      </p:sp>
    </p:spTree>
    <p:extLst>
      <p:ext uri="{BB962C8B-B14F-4D97-AF65-F5344CB8AC3E}">
        <p14:creationId xmlns:p14="http://schemas.microsoft.com/office/powerpoint/2010/main" val="3596207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and evaluated the agent on three grids of increasing difficulty. For evaluation, we used a greedy policy to assess whether the learned Q-values result in a successful path to the target.</a:t>
            </a:r>
          </a:p>
        </p:txBody>
      </p:sp>
      <p:sp>
        <p:nvSpPr>
          <p:cNvPr id="4" name="Slide Number Placeholder 3"/>
          <p:cNvSpPr>
            <a:spLocks noGrp="1"/>
          </p:cNvSpPr>
          <p:nvPr>
            <p:ph type="sldNum" sz="quarter" idx="5"/>
          </p:nvPr>
        </p:nvSpPr>
        <p:spPr/>
        <p:txBody>
          <a:bodyPr/>
          <a:lstStyle/>
          <a:p>
            <a:fld id="{E7F5DED5-B5AB-463B-8F14-AAA365800A97}" type="slidenum">
              <a:rPr lang="en-US" smtClean="0"/>
              <a:t>9</a:t>
            </a:fld>
            <a:endParaRPr lang="en-US"/>
          </a:p>
        </p:txBody>
      </p:sp>
    </p:spTree>
    <p:extLst>
      <p:ext uri="{BB962C8B-B14F-4D97-AF65-F5344CB8AC3E}">
        <p14:creationId xmlns:p14="http://schemas.microsoft.com/office/powerpoint/2010/main" val="546840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easy and medium grids, the Monte Carlo agent learns a reliable policy. The greedy rollout clearly shows that the agent reaches the target efficiently after training.</a:t>
            </a:r>
          </a:p>
        </p:txBody>
      </p:sp>
      <p:sp>
        <p:nvSpPr>
          <p:cNvPr id="4" name="Slide Number Placeholder 3"/>
          <p:cNvSpPr>
            <a:spLocks noGrp="1"/>
          </p:cNvSpPr>
          <p:nvPr>
            <p:ph type="sldNum" sz="quarter" idx="5"/>
          </p:nvPr>
        </p:nvSpPr>
        <p:spPr/>
        <p:txBody>
          <a:bodyPr/>
          <a:lstStyle/>
          <a:p>
            <a:fld id="{E7F5DED5-B5AB-463B-8F14-AAA365800A97}" type="slidenum">
              <a:rPr lang="en-US" smtClean="0"/>
              <a:t>10</a:t>
            </a:fld>
            <a:endParaRPr lang="en-US"/>
          </a:p>
        </p:txBody>
      </p:sp>
    </p:spTree>
    <p:extLst>
      <p:ext uri="{BB962C8B-B14F-4D97-AF65-F5344CB8AC3E}">
        <p14:creationId xmlns:p14="http://schemas.microsoft.com/office/powerpoint/2010/main" val="2658960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hard grid, Monte Carlo Control struggles due to the large state space and sparse reward signal. Even with increased training time and episode length, the learned policy does not reliably reach the target.</a:t>
            </a:r>
          </a:p>
        </p:txBody>
      </p:sp>
      <p:sp>
        <p:nvSpPr>
          <p:cNvPr id="4" name="Slide Number Placeholder 3"/>
          <p:cNvSpPr>
            <a:spLocks noGrp="1"/>
          </p:cNvSpPr>
          <p:nvPr>
            <p:ph type="sldNum" sz="quarter" idx="5"/>
          </p:nvPr>
        </p:nvSpPr>
        <p:spPr/>
        <p:txBody>
          <a:bodyPr/>
          <a:lstStyle/>
          <a:p>
            <a:fld id="{E7F5DED5-B5AB-463B-8F14-AAA365800A97}" type="slidenum">
              <a:rPr lang="en-US" smtClean="0"/>
              <a:t>11</a:t>
            </a:fld>
            <a:endParaRPr lang="en-US"/>
          </a:p>
        </p:txBody>
      </p:sp>
    </p:spTree>
    <p:extLst>
      <p:ext uri="{BB962C8B-B14F-4D97-AF65-F5344CB8AC3E}">
        <p14:creationId xmlns:p14="http://schemas.microsoft.com/office/powerpoint/2010/main" val="226658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experiments show that Monte Carlo Control is effective for smaller environments but becomes computationally expensive and unreliable as the environment complexity increases. This highlights an important limitation of Monte Carlo methods in reinforcement learning.</a:t>
            </a:r>
          </a:p>
        </p:txBody>
      </p:sp>
      <p:sp>
        <p:nvSpPr>
          <p:cNvPr id="4" name="Slide Number Placeholder 3"/>
          <p:cNvSpPr>
            <a:spLocks noGrp="1"/>
          </p:cNvSpPr>
          <p:nvPr>
            <p:ph type="sldNum" sz="quarter" idx="5"/>
          </p:nvPr>
        </p:nvSpPr>
        <p:spPr/>
        <p:txBody>
          <a:bodyPr/>
          <a:lstStyle/>
          <a:p>
            <a:fld id="{E7F5DED5-B5AB-463B-8F14-AAA365800A97}" type="slidenum">
              <a:rPr lang="en-US" smtClean="0"/>
              <a:t>12</a:t>
            </a:fld>
            <a:endParaRPr lang="en-US"/>
          </a:p>
        </p:txBody>
      </p:sp>
    </p:spTree>
    <p:extLst>
      <p:ext uri="{BB962C8B-B14F-4D97-AF65-F5344CB8AC3E}">
        <p14:creationId xmlns:p14="http://schemas.microsoft.com/office/powerpoint/2010/main" val="20739248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1E700B27-DE4C-4B9E-BB11-B9027034A00F}" type="datetimeFigureOut">
              <a:rPr lang="en-US" dirty="0"/>
              <a:pPr/>
              <a:t>1/22/2026</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C51FCE-E4BB-4680-8E50-3C0E348D2609}" type="datetimeFigureOut">
              <a:rPr lang="en-US" dirty="0"/>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A073D-A903-47F8-8D16-77642FB0DF1F}" type="datetimeFigureOut">
              <a:rPr lang="en-US" dirty="0"/>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dirty="0"/>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dirty="0"/>
              <a:t>1/22/2026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dirty="0"/>
              <a:t>1/22/2026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dirty="0"/>
              <a:t>1/22/2026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665CEB-0076-4E37-B880-BCEA9784DE0A}" type="datetimeFigureOut">
              <a:rPr lang="en-US" dirty="0"/>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49E5E-3896-4118-99A7-7B85668F1C5E}" type="datetimeFigureOut">
              <a:rPr lang="en-US" dirty="0"/>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0F4739-9812-4A9F-890D-2AD6BA5F6EE8}" type="datetimeFigureOut">
              <a:rPr lang="en-US" dirty="0"/>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8845AC5-A3F8-44AA-BA8F-596CDCC976D3}" type="datetimeFigureOut">
              <a:rPr lang="en-US" dirty="0"/>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873B183-A821-4095-A363-9EC968635539}" type="datetimeFigureOut">
              <a:rPr lang="en-US" dirty="0"/>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4D01B4-0AA5-45E6-B2E6-5FA4078AEBCF}" type="datetimeFigureOut">
              <a:rPr lang="en-US" dirty="0"/>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147335C-0450-40D7-8612-B3203BED4F28}" type="datetimeFigureOut">
              <a:rPr lang="en-US" dirty="0"/>
              <a:t>1/22/2026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46A105-2A1C-4284-B4EA-07CF89B1A393}" type="datetimeFigureOut">
              <a:rPr lang="en-US" dirty="0"/>
              <a:t>1/22/2026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dirty="0"/>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dirty="0"/>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7E0D914D-B099-4142-A885-11F276715148}" type="datetimeFigureOut">
              <a:rPr lang="en-US" dirty="0"/>
              <a:t>1/22/2026</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12151A-A87C-376E-7569-E13ED13294A5}"/>
              </a:ext>
            </a:extLst>
          </p:cNvPr>
          <p:cNvSpPr>
            <a:spLocks noGrp="1"/>
          </p:cNvSpPr>
          <p:nvPr>
            <p:ph type="ctrTitle"/>
          </p:nvPr>
        </p:nvSpPr>
        <p:spPr>
          <a:xfrm>
            <a:off x="1154955" y="639096"/>
            <a:ext cx="8825658" cy="2132501"/>
          </a:xfrm>
        </p:spPr>
        <p:txBody>
          <a:bodyPr/>
          <a:lstStyle/>
          <a:p>
            <a:r>
              <a:rPr lang="en-US" dirty="0"/>
              <a:t>Monte Carlo Control for Grid-Based Path Finding</a:t>
            </a:r>
          </a:p>
        </p:txBody>
      </p:sp>
      <p:sp>
        <p:nvSpPr>
          <p:cNvPr id="5" name="Subtitle 4">
            <a:extLst>
              <a:ext uri="{FF2B5EF4-FFF2-40B4-BE49-F238E27FC236}">
                <a16:creationId xmlns:a16="http://schemas.microsoft.com/office/drawing/2014/main" id="{ECCF76F9-48CE-4792-0CD8-A367228158C9}"/>
              </a:ext>
            </a:extLst>
          </p:cNvPr>
          <p:cNvSpPr>
            <a:spLocks noGrp="1"/>
          </p:cNvSpPr>
          <p:nvPr>
            <p:ph type="subTitle" idx="1"/>
          </p:nvPr>
        </p:nvSpPr>
        <p:spPr>
          <a:xfrm>
            <a:off x="1154954" y="2920181"/>
            <a:ext cx="9513045" cy="2718619"/>
          </a:xfrm>
        </p:spPr>
        <p:txBody>
          <a:bodyPr>
            <a:normAutofit fontScale="92500" lnSpcReduction="20000"/>
          </a:bodyPr>
          <a:lstStyle/>
          <a:p>
            <a:r>
              <a:rPr lang="en-US" dirty="0"/>
              <a:t>Machine Learning Exercise 3 – Reinforcement Learning</a:t>
            </a:r>
          </a:p>
          <a:p>
            <a:endParaRPr lang="en-US" b="1" dirty="0"/>
          </a:p>
          <a:p>
            <a:r>
              <a:rPr lang="en-US" b="1" dirty="0"/>
              <a:t>Group Members </a:t>
            </a:r>
            <a:r>
              <a:rPr lang="en-US" sz="1600" b="1" dirty="0"/>
              <a:t>(Group 16)</a:t>
            </a:r>
            <a:endParaRPr lang="en-US" sz="1600" dirty="0"/>
          </a:p>
          <a:p>
            <a:r>
              <a:rPr lang="en-US" dirty="0"/>
              <a:t>Felix Schmidt (12002283)</a:t>
            </a:r>
          </a:p>
          <a:p>
            <a:r>
              <a:rPr lang="en-US" dirty="0"/>
              <a:t>Muhammad Adeel Shakir (12414972)</a:t>
            </a:r>
          </a:p>
          <a:p>
            <a:r>
              <a:rPr lang="en-US" dirty="0"/>
              <a:t>Muhammad Abid (12436490)</a:t>
            </a:r>
          </a:p>
          <a:p>
            <a:pPr algn="r"/>
            <a:r>
              <a:rPr lang="pl-PL" dirty="0"/>
              <a:t>Machine Learning (2025W)</a:t>
            </a:r>
          </a:p>
          <a:p>
            <a:pPr algn="r"/>
            <a:r>
              <a:rPr lang="pl-PL" dirty="0"/>
              <a:t>TU Wien</a:t>
            </a:r>
          </a:p>
          <a:p>
            <a:endParaRPr lang="en-US" dirty="0"/>
          </a:p>
          <a:p>
            <a:endParaRPr lang="en-US" dirty="0"/>
          </a:p>
        </p:txBody>
      </p:sp>
    </p:spTree>
    <p:extLst>
      <p:ext uri="{BB962C8B-B14F-4D97-AF65-F5344CB8AC3E}">
        <p14:creationId xmlns:p14="http://schemas.microsoft.com/office/powerpoint/2010/main" val="3022361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6D28A-61F9-8C4B-4C44-D5C416EBCCBE}"/>
              </a:ext>
            </a:extLst>
          </p:cNvPr>
          <p:cNvSpPr>
            <a:spLocks noGrp="1"/>
          </p:cNvSpPr>
          <p:nvPr>
            <p:ph type="title"/>
          </p:nvPr>
        </p:nvSpPr>
        <p:spPr/>
        <p:txBody>
          <a:bodyPr/>
          <a:lstStyle/>
          <a:p>
            <a:r>
              <a:rPr lang="en-US" dirty="0"/>
              <a:t>Problem Definition</a:t>
            </a:r>
          </a:p>
        </p:txBody>
      </p:sp>
      <p:sp>
        <p:nvSpPr>
          <p:cNvPr id="3" name="Content Placeholder 2">
            <a:extLst>
              <a:ext uri="{FF2B5EF4-FFF2-40B4-BE49-F238E27FC236}">
                <a16:creationId xmlns:a16="http://schemas.microsoft.com/office/drawing/2014/main" id="{0682453B-E1F5-6DE6-1E0A-F91F78564542}"/>
              </a:ext>
            </a:extLst>
          </p:cNvPr>
          <p:cNvSpPr>
            <a:spLocks noGrp="1"/>
          </p:cNvSpPr>
          <p:nvPr>
            <p:ph idx="1"/>
          </p:nvPr>
        </p:nvSpPr>
        <p:spPr/>
        <p:txBody>
          <a:bodyPr/>
          <a:lstStyle/>
          <a:p>
            <a:r>
              <a:rPr lang="en-US" dirty="0"/>
              <a:t>Goal: learn an optimal policy to navigate an agent to a target cell</a:t>
            </a:r>
          </a:p>
          <a:p>
            <a:r>
              <a:rPr lang="en-US" dirty="0"/>
              <a:t>Environment modeled as a 2D grid world</a:t>
            </a:r>
          </a:p>
          <a:p>
            <a:r>
              <a:rPr lang="en-US" dirty="0"/>
              <a:t>Some cells are blocked by obstacles</a:t>
            </a:r>
          </a:p>
          <a:p>
            <a:r>
              <a:rPr lang="en-US" dirty="0"/>
              <a:t>Agent starts from a fixed start position</a:t>
            </a:r>
          </a:p>
          <a:p>
            <a:r>
              <a:rPr lang="en-US" b="1" dirty="0"/>
              <a:t>Episode ends when:</a:t>
            </a:r>
          </a:p>
          <a:p>
            <a:pPr lvl="1"/>
            <a:r>
              <a:rPr lang="en-US" dirty="0"/>
              <a:t>the target is reached, or</a:t>
            </a:r>
          </a:p>
          <a:p>
            <a:pPr lvl="1"/>
            <a:r>
              <a:rPr lang="en-US" dirty="0"/>
              <a:t>a maximum number of steps is exceeded</a:t>
            </a:r>
          </a:p>
          <a:p>
            <a:endParaRPr lang="en-US" dirty="0"/>
          </a:p>
        </p:txBody>
      </p:sp>
    </p:spTree>
    <p:extLst>
      <p:ext uri="{BB962C8B-B14F-4D97-AF65-F5344CB8AC3E}">
        <p14:creationId xmlns:p14="http://schemas.microsoft.com/office/powerpoint/2010/main" val="930824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83758-C942-7BBB-5362-1F2EEA477496}"/>
              </a:ext>
            </a:extLst>
          </p:cNvPr>
          <p:cNvSpPr>
            <a:spLocks noGrp="1"/>
          </p:cNvSpPr>
          <p:nvPr>
            <p:ph type="title"/>
          </p:nvPr>
        </p:nvSpPr>
        <p:spPr/>
        <p:txBody>
          <a:bodyPr/>
          <a:lstStyle/>
          <a:p>
            <a:r>
              <a:rPr lang="en-US" dirty="0"/>
              <a:t>Environment and Grid World Setup</a:t>
            </a:r>
          </a:p>
        </p:txBody>
      </p:sp>
      <p:sp>
        <p:nvSpPr>
          <p:cNvPr id="3" name="Content Placeholder 2">
            <a:extLst>
              <a:ext uri="{FF2B5EF4-FFF2-40B4-BE49-F238E27FC236}">
                <a16:creationId xmlns:a16="http://schemas.microsoft.com/office/drawing/2014/main" id="{2DD240E3-EA6B-7E98-F80E-FEA3901F3EDB}"/>
              </a:ext>
            </a:extLst>
          </p:cNvPr>
          <p:cNvSpPr>
            <a:spLocks noGrp="1"/>
          </p:cNvSpPr>
          <p:nvPr>
            <p:ph idx="1"/>
          </p:nvPr>
        </p:nvSpPr>
        <p:spPr/>
        <p:txBody>
          <a:bodyPr>
            <a:normAutofit fontScale="77500" lnSpcReduction="20000"/>
          </a:bodyPr>
          <a:lstStyle/>
          <a:p>
            <a:r>
              <a:rPr lang="en-US" b="1" dirty="0"/>
              <a:t>Environment represented as a grid of cells</a:t>
            </a:r>
          </a:p>
          <a:p>
            <a:r>
              <a:rPr lang="en-US" b="1" dirty="0"/>
              <a:t>Each cell can be:</a:t>
            </a:r>
          </a:p>
          <a:p>
            <a:pPr lvl="1"/>
            <a:r>
              <a:rPr lang="en-US" dirty="0"/>
              <a:t>free space</a:t>
            </a:r>
          </a:p>
          <a:p>
            <a:pPr lvl="1"/>
            <a:r>
              <a:rPr lang="en-US" dirty="0"/>
              <a:t>obstacle</a:t>
            </a:r>
          </a:p>
          <a:p>
            <a:pPr lvl="1"/>
            <a:r>
              <a:rPr lang="en-US" dirty="0"/>
              <a:t>target (goal)</a:t>
            </a:r>
          </a:p>
          <a:p>
            <a:r>
              <a:rPr lang="en-US" b="1" dirty="0"/>
              <a:t>Agent state includes:</a:t>
            </a:r>
          </a:p>
          <a:p>
            <a:pPr lvl="1"/>
            <a:r>
              <a:rPr lang="en-US" dirty="0"/>
              <a:t>grid position (row, col)</a:t>
            </a:r>
          </a:p>
          <a:p>
            <a:r>
              <a:rPr lang="en-US" b="1" dirty="0"/>
              <a:t>Action space:</a:t>
            </a:r>
          </a:p>
          <a:p>
            <a:pPr lvl="1"/>
            <a:r>
              <a:rPr lang="en-US" dirty="0"/>
              <a:t>discrete moves (up, down, left, right)</a:t>
            </a:r>
          </a:p>
          <a:p>
            <a:r>
              <a:rPr lang="en-US" b="1" dirty="0"/>
              <a:t>Reward structure:</a:t>
            </a:r>
          </a:p>
          <a:p>
            <a:pPr lvl="1"/>
            <a:r>
              <a:rPr lang="en-US" dirty="0"/>
              <a:t>negative reward per step</a:t>
            </a:r>
          </a:p>
          <a:p>
            <a:pPr lvl="1"/>
            <a:r>
              <a:rPr lang="en-US" dirty="0"/>
              <a:t>positive reward for reaching target</a:t>
            </a:r>
          </a:p>
          <a:p>
            <a:endParaRPr lang="en-US" dirty="0"/>
          </a:p>
        </p:txBody>
      </p:sp>
    </p:spTree>
    <p:extLst>
      <p:ext uri="{BB962C8B-B14F-4D97-AF65-F5344CB8AC3E}">
        <p14:creationId xmlns:p14="http://schemas.microsoft.com/office/powerpoint/2010/main" val="1641183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75D35-3AA1-2092-0064-86A9AA97D62D}"/>
              </a:ext>
            </a:extLst>
          </p:cNvPr>
          <p:cNvSpPr>
            <a:spLocks noGrp="1"/>
          </p:cNvSpPr>
          <p:nvPr>
            <p:ph type="title"/>
          </p:nvPr>
        </p:nvSpPr>
        <p:spPr>
          <a:xfrm>
            <a:off x="1154953" y="973668"/>
            <a:ext cx="9397969" cy="706964"/>
          </a:xfrm>
        </p:spPr>
        <p:txBody>
          <a:bodyPr/>
          <a:lstStyle/>
          <a:p>
            <a:r>
              <a:rPr lang="en-US" dirty="0"/>
              <a:t>Monte Carlo Control (First-Visit, </a:t>
            </a:r>
            <a:r>
              <a:rPr lang="el-GR" dirty="0"/>
              <a:t>ε-</a:t>
            </a:r>
            <a:r>
              <a:rPr lang="en-US" dirty="0"/>
              <a:t>Greedy)</a:t>
            </a:r>
          </a:p>
        </p:txBody>
      </p:sp>
      <p:sp>
        <p:nvSpPr>
          <p:cNvPr id="3" name="Content Placeholder 2">
            <a:extLst>
              <a:ext uri="{FF2B5EF4-FFF2-40B4-BE49-F238E27FC236}">
                <a16:creationId xmlns:a16="http://schemas.microsoft.com/office/drawing/2014/main" id="{3B1D1793-D74F-F472-429D-D564E6540717}"/>
              </a:ext>
            </a:extLst>
          </p:cNvPr>
          <p:cNvSpPr>
            <a:spLocks noGrp="1"/>
          </p:cNvSpPr>
          <p:nvPr>
            <p:ph idx="1"/>
          </p:nvPr>
        </p:nvSpPr>
        <p:spPr/>
        <p:txBody>
          <a:bodyPr/>
          <a:lstStyle/>
          <a:p>
            <a:r>
              <a:rPr lang="en-US" dirty="0"/>
              <a:t>Reinforcement Learning method based on Monte Carlo Control</a:t>
            </a:r>
          </a:p>
          <a:p>
            <a:r>
              <a:rPr lang="en-US" dirty="0"/>
              <a:t>Learns action-value function Q(s, a) from complete episodes</a:t>
            </a:r>
          </a:p>
          <a:p>
            <a:r>
              <a:rPr lang="en-US" dirty="0"/>
              <a:t>Uses First-Visit Monte Carlo updates</a:t>
            </a:r>
          </a:p>
          <a:p>
            <a:r>
              <a:rPr lang="en-US" dirty="0"/>
              <a:t>Policy improvement via </a:t>
            </a:r>
            <a:r>
              <a:rPr lang="el-GR" dirty="0"/>
              <a:t>ε-</a:t>
            </a:r>
            <a:r>
              <a:rPr lang="en-US" dirty="0"/>
              <a:t>greedy exploration</a:t>
            </a:r>
          </a:p>
          <a:p>
            <a:r>
              <a:rPr lang="en-US" dirty="0"/>
              <a:t>No model of environment required (model-free RL)</a:t>
            </a:r>
          </a:p>
          <a:p>
            <a:endParaRPr lang="en-US" dirty="0"/>
          </a:p>
        </p:txBody>
      </p:sp>
    </p:spTree>
    <p:extLst>
      <p:ext uri="{BB962C8B-B14F-4D97-AF65-F5344CB8AC3E}">
        <p14:creationId xmlns:p14="http://schemas.microsoft.com/office/powerpoint/2010/main" val="1685342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C6A3F-8475-3D7E-3E6A-4A076846679A}"/>
              </a:ext>
            </a:extLst>
          </p:cNvPr>
          <p:cNvSpPr>
            <a:spLocks noGrp="1"/>
          </p:cNvSpPr>
          <p:nvPr>
            <p:ph type="title"/>
          </p:nvPr>
        </p:nvSpPr>
        <p:spPr>
          <a:xfrm>
            <a:off x="1154953" y="973668"/>
            <a:ext cx="9743202" cy="706964"/>
          </a:xfrm>
        </p:spPr>
        <p:txBody>
          <a:bodyPr/>
          <a:lstStyle/>
          <a:p>
            <a:r>
              <a:rPr lang="en-US" dirty="0"/>
              <a:t>State, Action and Return Representation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8DD4426-3497-2AFD-129D-A865B6E3F20E}"/>
                  </a:ext>
                </a:extLst>
              </p:cNvPr>
              <p:cNvSpPr>
                <a:spLocks noGrp="1"/>
              </p:cNvSpPr>
              <p:nvPr>
                <p:ph idx="1"/>
              </p:nvPr>
            </p:nvSpPr>
            <p:spPr>
              <a:xfrm>
                <a:off x="1154955" y="2313991"/>
                <a:ext cx="8761412" cy="4338735"/>
              </a:xfrm>
            </p:spPr>
            <p:txBody>
              <a:bodyPr>
                <a:normAutofit fontScale="92500" lnSpcReduction="20000"/>
              </a:bodyPr>
              <a:lstStyle/>
              <a:p>
                <a:r>
                  <a:rPr lang="en-US" b="1" dirty="0"/>
                  <a:t>State (s)</a:t>
                </a:r>
              </a:p>
              <a:p>
                <a:pPr lvl="1"/>
                <a:r>
                  <a:rPr lang="en-US" dirty="0"/>
                  <a:t>Represented as a tuple:</a:t>
                </a:r>
              </a:p>
              <a:p>
                <a:pPr marL="857250" lvl="2" indent="0">
                  <a:buNone/>
                </a:pPr>
                <a:r>
                  <a:rPr lang="en-US" dirty="0"/>
                  <a:t>(row, col, </a:t>
                </a:r>
                <a:r>
                  <a:rPr lang="en-US" dirty="0" err="1"/>
                  <a:t>vx</a:t>
                </a:r>
                <a:r>
                  <a:rPr lang="en-US" dirty="0"/>
                  <a:t>, </a:t>
                </a:r>
                <a:r>
                  <a:rPr lang="en-US" dirty="0" err="1"/>
                  <a:t>vy</a:t>
                </a:r>
                <a:r>
                  <a:rPr lang="en-US" dirty="0"/>
                  <a:t>)</a:t>
                </a:r>
              </a:p>
              <a:p>
                <a:pPr lvl="1"/>
                <a:r>
                  <a:rPr lang="en-US" dirty="0"/>
                  <a:t>Position and velocity fully describe the agent</a:t>
                </a:r>
              </a:p>
              <a:p>
                <a:r>
                  <a:rPr lang="en-US" b="1" dirty="0"/>
                  <a:t>Action (a)</a:t>
                </a:r>
              </a:p>
              <a:p>
                <a:pPr lvl="1"/>
                <a:r>
                  <a:rPr lang="en-US" dirty="0"/>
                  <a:t>Acceleration vector: (ax, ay)</a:t>
                </a:r>
              </a:p>
              <a:p>
                <a:pPr lvl="1"/>
                <a:r>
                  <a:rPr lang="en-US" dirty="0"/>
                  <a:t>Chosen from a fixed discrete action space</a:t>
                </a:r>
              </a:p>
              <a:p>
                <a:r>
                  <a:rPr lang="en-US" b="1" dirty="0"/>
                  <a:t>Transition format</a:t>
                </a:r>
              </a:p>
              <a:p>
                <a:pPr lvl="1"/>
                <a:r>
                  <a:rPr lang="en-US" dirty="0"/>
                  <a:t>Each episode consists of:</a:t>
                </a:r>
              </a:p>
              <a:p>
                <a:pPr lvl="1"/>
                <a:r>
                  <a:rPr lang="en-US" dirty="0"/>
                  <a:t>(state, action, reward)</a:t>
                </a:r>
              </a:p>
              <a:p>
                <a:r>
                  <a:rPr lang="en-US" b="1" dirty="0"/>
                  <a:t>Return (Gₜ)</a:t>
                </a:r>
              </a:p>
              <a:p>
                <a:pPr lvl="1"/>
                <a:r>
                  <a:rPr lang="en-US" dirty="0"/>
                  <a:t>Computed as discounted sum of future rewards</a:t>
                </a:r>
              </a:p>
              <a:p>
                <a:pPr lvl="1"/>
                <a14:m>
                  <m:oMath xmlns:m="http://schemas.openxmlformats.org/officeDocument/2006/math">
                    <m:sSub>
                      <m:sSubPr>
                        <m:ctrlPr>
                          <a:rPr lang="ar-AE"/>
                        </m:ctrlPr>
                      </m:sSubPr>
                      <m:e>
                        <m:r>
                          <a:rPr lang="ar-AE" i="1"/>
                          <m:t>𝐺</m:t>
                        </m:r>
                      </m:e>
                      <m:sub>
                        <m:r>
                          <a:rPr lang="ar-AE" i="1"/>
                          <m:t>𝑡</m:t>
                        </m:r>
                      </m:sub>
                    </m:sSub>
                    <m:r>
                      <a:rPr lang="ar-AE"/>
                      <m:t>=</m:t>
                    </m:r>
                    <m:sSub>
                      <m:sSubPr>
                        <m:ctrlPr>
                          <a:rPr lang="ar-AE" i="1"/>
                        </m:ctrlPr>
                      </m:sSubPr>
                      <m:e>
                        <m:r>
                          <a:rPr lang="ar-AE" i="1"/>
                          <m:t>𝑟</m:t>
                        </m:r>
                      </m:e>
                      <m:sub>
                        <m:r>
                          <a:rPr lang="ar-AE" i="1"/>
                          <m:t>𝑡</m:t>
                        </m:r>
                      </m:sub>
                    </m:sSub>
                    <m:r>
                      <a:rPr lang="ar-AE"/>
                      <m:t>+</m:t>
                    </m:r>
                    <m:r>
                      <a:rPr lang="ar-AE" i="1"/>
                      <m:t>𝛾</m:t>
                    </m:r>
                    <m:sSub>
                      <m:sSubPr>
                        <m:ctrlPr>
                          <a:rPr lang="ar-AE" i="1"/>
                        </m:ctrlPr>
                      </m:sSubPr>
                      <m:e>
                        <m:r>
                          <a:rPr lang="ar-AE" i="1"/>
                          <m:t>𝑟</m:t>
                        </m:r>
                      </m:e>
                      <m:sub>
                        <m:r>
                          <a:rPr lang="ar-AE" i="1"/>
                          <m:t>𝑡</m:t>
                        </m:r>
                        <m:r>
                          <a:rPr lang="ar-AE"/>
                          <m:t>+</m:t>
                        </m:r>
                        <m:r>
                          <a:rPr lang="ar-AE"/>
                          <m:t>1</m:t>
                        </m:r>
                      </m:sub>
                    </m:sSub>
                    <m:r>
                      <a:rPr lang="ar-AE"/>
                      <m:t>+</m:t>
                    </m:r>
                    <m:sSup>
                      <m:sSupPr>
                        <m:ctrlPr>
                          <a:rPr lang="ar-AE" i="1"/>
                        </m:ctrlPr>
                      </m:sSupPr>
                      <m:e>
                        <m:r>
                          <a:rPr lang="ar-AE" i="1"/>
                          <m:t>𝛾</m:t>
                        </m:r>
                      </m:e>
                      <m:sup>
                        <m:r>
                          <a:rPr lang="ar-AE"/>
                          <m:t>2</m:t>
                        </m:r>
                      </m:sup>
                    </m:sSup>
                    <m:sSub>
                      <m:sSubPr>
                        <m:ctrlPr>
                          <a:rPr lang="ar-AE" i="1"/>
                        </m:ctrlPr>
                      </m:sSubPr>
                      <m:e>
                        <m:r>
                          <a:rPr lang="ar-AE" i="1"/>
                          <m:t>𝑟</m:t>
                        </m:r>
                      </m:e>
                      <m:sub>
                        <m:r>
                          <a:rPr lang="ar-AE" i="1"/>
                          <m:t>𝑡</m:t>
                        </m:r>
                        <m:r>
                          <a:rPr lang="ar-AE"/>
                          <m:t>+</m:t>
                        </m:r>
                        <m:r>
                          <a:rPr lang="ar-AE"/>
                          <m:t>2</m:t>
                        </m:r>
                      </m:sub>
                    </m:sSub>
                    <m:r>
                      <a:rPr lang="ar-AE"/>
                      <m:t>+…</m:t>
                    </m:r>
                  </m:oMath>
                </a14:m>
                <a:endParaRPr lang="ar-AE" dirty="0"/>
              </a:p>
              <a:p>
                <a:endParaRPr lang="en-US" dirty="0"/>
              </a:p>
            </p:txBody>
          </p:sp>
        </mc:Choice>
        <mc:Fallback>
          <p:sp>
            <p:nvSpPr>
              <p:cNvPr id="3" name="Content Placeholder 2">
                <a:extLst>
                  <a:ext uri="{FF2B5EF4-FFF2-40B4-BE49-F238E27FC236}">
                    <a16:creationId xmlns:a16="http://schemas.microsoft.com/office/drawing/2014/main" id="{E8DD4426-3497-2AFD-129D-A865B6E3F20E}"/>
                  </a:ext>
                </a:extLst>
              </p:cNvPr>
              <p:cNvSpPr>
                <a:spLocks noGrp="1" noRot="1" noChangeAspect="1" noMove="1" noResize="1" noEditPoints="1" noAdjustHandles="1" noChangeArrowheads="1" noChangeShapeType="1" noTextEdit="1"/>
              </p:cNvSpPr>
              <p:nvPr>
                <p:ph idx="1"/>
              </p:nvPr>
            </p:nvSpPr>
            <p:spPr>
              <a:xfrm>
                <a:off x="1154955" y="2313991"/>
                <a:ext cx="8761412" cy="4338735"/>
              </a:xfrm>
              <a:blipFill>
                <a:blip r:embed="rId3"/>
                <a:stretch>
                  <a:fillRect l="-70" t="-1688"/>
                </a:stretch>
              </a:blipFill>
            </p:spPr>
            <p:txBody>
              <a:bodyPr/>
              <a:lstStyle/>
              <a:p>
                <a:r>
                  <a:rPr lang="en-US">
                    <a:noFill/>
                  </a:rPr>
                  <a:t> </a:t>
                </a:r>
              </a:p>
            </p:txBody>
          </p:sp>
        </mc:Fallback>
      </mc:AlternateContent>
    </p:spTree>
    <p:extLst>
      <p:ext uri="{BB962C8B-B14F-4D97-AF65-F5344CB8AC3E}">
        <p14:creationId xmlns:p14="http://schemas.microsoft.com/office/powerpoint/2010/main" val="2484166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5B260-0CD6-993A-DD1A-AC4CCFF5C7F2}"/>
              </a:ext>
            </a:extLst>
          </p:cNvPr>
          <p:cNvSpPr>
            <a:spLocks noGrp="1"/>
          </p:cNvSpPr>
          <p:nvPr>
            <p:ph type="title"/>
          </p:nvPr>
        </p:nvSpPr>
        <p:spPr>
          <a:xfrm>
            <a:off x="1154952" y="973668"/>
            <a:ext cx="9575251" cy="706964"/>
          </a:xfrm>
        </p:spPr>
        <p:txBody>
          <a:bodyPr/>
          <a:lstStyle/>
          <a:p>
            <a:r>
              <a:rPr lang="en-US" dirty="0"/>
              <a:t>Episode Generation using ε-Greedy Policy</a:t>
            </a:r>
          </a:p>
        </p:txBody>
      </p:sp>
      <p:sp>
        <p:nvSpPr>
          <p:cNvPr id="3" name="Content Placeholder 2">
            <a:extLst>
              <a:ext uri="{FF2B5EF4-FFF2-40B4-BE49-F238E27FC236}">
                <a16:creationId xmlns:a16="http://schemas.microsoft.com/office/drawing/2014/main" id="{5E5960C1-BBD3-E245-6C11-E001D7C75EFD}"/>
              </a:ext>
            </a:extLst>
          </p:cNvPr>
          <p:cNvSpPr>
            <a:spLocks noGrp="1"/>
          </p:cNvSpPr>
          <p:nvPr>
            <p:ph idx="1"/>
          </p:nvPr>
        </p:nvSpPr>
        <p:spPr/>
        <p:txBody>
          <a:bodyPr>
            <a:normAutofit fontScale="77500" lnSpcReduction="20000"/>
          </a:bodyPr>
          <a:lstStyle/>
          <a:p>
            <a:r>
              <a:rPr lang="en-US" b="1" dirty="0"/>
              <a:t>Policy type</a:t>
            </a:r>
          </a:p>
          <a:p>
            <a:pPr lvl="1"/>
            <a:r>
              <a:rPr lang="en-US" dirty="0"/>
              <a:t>ε-greedy policy derived from current Q-values</a:t>
            </a:r>
          </a:p>
          <a:p>
            <a:pPr lvl="1"/>
            <a:r>
              <a:rPr lang="en-US" dirty="0"/>
              <a:t>Balances exploration and exploitation</a:t>
            </a:r>
          </a:p>
          <a:p>
            <a:r>
              <a:rPr lang="en-US" b="1" dirty="0"/>
              <a:t>Action selection</a:t>
            </a:r>
          </a:p>
          <a:p>
            <a:pPr lvl="1"/>
            <a:r>
              <a:rPr lang="en-US" dirty="0"/>
              <a:t>With probability ε → choose random action</a:t>
            </a:r>
          </a:p>
          <a:p>
            <a:pPr lvl="1"/>
            <a:r>
              <a:rPr lang="en-US" dirty="0"/>
              <a:t>With probability 1 − ε → choose action with highest Q(s, a)</a:t>
            </a:r>
          </a:p>
          <a:p>
            <a:r>
              <a:rPr lang="en-US" b="1" dirty="0"/>
              <a:t>Episode generation</a:t>
            </a:r>
          </a:p>
          <a:p>
            <a:pPr lvl="1"/>
            <a:r>
              <a:rPr lang="en-US" dirty="0"/>
              <a:t>Start from environment reset</a:t>
            </a:r>
          </a:p>
          <a:p>
            <a:pPr lvl="1"/>
            <a:r>
              <a:rPr lang="en-US" dirty="0"/>
              <a:t>Collect transitions: (state, action, reward)</a:t>
            </a:r>
          </a:p>
          <a:p>
            <a:pPr lvl="1"/>
            <a:r>
              <a:rPr lang="en-US" dirty="0"/>
              <a:t>Stop when:</a:t>
            </a:r>
          </a:p>
          <a:p>
            <a:pPr lvl="2"/>
            <a:r>
              <a:rPr lang="en-US" dirty="0"/>
              <a:t>target reached (done=True), or</a:t>
            </a:r>
          </a:p>
          <a:p>
            <a:pPr lvl="2"/>
            <a:r>
              <a:rPr lang="en-US" dirty="0"/>
              <a:t>maximum steps reached</a:t>
            </a:r>
          </a:p>
          <a:p>
            <a:endParaRPr lang="en-US" dirty="0"/>
          </a:p>
        </p:txBody>
      </p:sp>
    </p:spTree>
    <p:extLst>
      <p:ext uri="{BB962C8B-B14F-4D97-AF65-F5344CB8AC3E}">
        <p14:creationId xmlns:p14="http://schemas.microsoft.com/office/powerpoint/2010/main" val="4206101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3EB73-DD1A-EB37-4B3B-60352CE7E203}"/>
              </a:ext>
            </a:extLst>
          </p:cNvPr>
          <p:cNvSpPr>
            <a:spLocks noGrp="1"/>
          </p:cNvSpPr>
          <p:nvPr>
            <p:ph type="title"/>
          </p:nvPr>
        </p:nvSpPr>
        <p:spPr/>
        <p:txBody>
          <a:bodyPr/>
          <a:lstStyle/>
          <a:p>
            <a:r>
              <a:rPr lang="en-US" dirty="0"/>
              <a:t>First-Visit Monte Carlo Update Rule</a:t>
            </a:r>
          </a:p>
        </p:txBody>
      </p:sp>
      <p:sp>
        <p:nvSpPr>
          <p:cNvPr id="3" name="Content Placeholder 2">
            <a:extLst>
              <a:ext uri="{FF2B5EF4-FFF2-40B4-BE49-F238E27FC236}">
                <a16:creationId xmlns:a16="http://schemas.microsoft.com/office/drawing/2014/main" id="{E6953C74-A939-2EC4-AC6F-6221DB6A938C}"/>
              </a:ext>
            </a:extLst>
          </p:cNvPr>
          <p:cNvSpPr>
            <a:spLocks noGrp="1"/>
          </p:cNvSpPr>
          <p:nvPr>
            <p:ph idx="1"/>
          </p:nvPr>
        </p:nvSpPr>
        <p:spPr>
          <a:xfrm>
            <a:off x="1154955" y="2603500"/>
            <a:ext cx="6197567" cy="3416300"/>
          </a:xfrm>
        </p:spPr>
        <p:txBody>
          <a:bodyPr/>
          <a:lstStyle/>
          <a:p>
            <a:r>
              <a:rPr lang="en-US" b="1" dirty="0"/>
              <a:t>Learning method</a:t>
            </a:r>
            <a:endParaRPr lang="en-US" dirty="0"/>
          </a:p>
          <a:p>
            <a:pPr lvl="1"/>
            <a:r>
              <a:rPr lang="en-US" dirty="0"/>
              <a:t>First-Visit Monte Carlo Control</a:t>
            </a:r>
          </a:p>
          <a:p>
            <a:pPr lvl="1"/>
            <a:r>
              <a:rPr lang="en-US" dirty="0"/>
              <a:t>Updates Q(s, a) </a:t>
            </a:r>
            <a:r>
              <a:rPr lang="en-US" b="1" dirty="0"/>
              <a:t>once per episode</a:t>
            </a:r>
            <a:endParaRPr lang="en-US" dirty="0"/>
          </a:p>
          <a:p>
            <a:r>
              <a:rPr lang="en-US" b="1" dirty="0"/>
              <a:t>Return calculation</a:t>
            </a:r>
            <a:endParaRPr lang="en-US" dirty="0"/>
          </a:p>
          <a:p>
            <a:pPr lvl="1"/>
            <a:r>
              <a:rPr lang="en-US" dirty="0"/>
              <a:t>Full episode is generated first</a:t>
            </a:r>
          </a:p>
          <a:p>
            <a:pPr lvl="1"/>
            <a:r>
              <a:rPr lang="en-US" dirty="0"/>
              <a:t>Returns computed backward using discount factor γ</a:t>
            </a:r>
          </a:p>
          <a:p>
            <a:r>
              <a:rPr lang="en-US" b="1" dirty="0"/>
              <a:t>Update rule</a:t>
            </a:r>
            <a:endParaRPr lang="en-US" dirty="0"/>
          </a:p>
          <a:p>
            <a:pPr lvl="1"/>
            <a:r>
              <a:rPr lang="en-US" dirty="0"/>
              <a:t>Uses </a:t>
            </a:r>
            <a:r>
              <a:rPr lang="en-US" b="1" dirty="0"/>
              <a:t>incremental mean</a:t>
            </a:r>
            <a:r>
              <a:rPr lang="en-US" dirty="0"/>
              <a:t> to estimate expected return</a:t>
            </a:r>
          </a:p>
          <a:p>
            <a:endParaRPr lang="en-US" dirty="0"/>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8D2B9BC-21A3-7E2C-C8A4-154D924D2FA9}"/>
                  </a:ext>
                </a:extLst>
              </p:cNvPr>
              <p:cNvSpPr txBox="1"/>
              <p:nvPr/>
            </p:nvSpPr>
            <p:spPr>
              <a:xfrm>
                <a:off x="5987921" y="2613400"/>
                <a:ext cx="6097554" cy="1707840"/>
              </a:xfrm>
              <a:prstGeom prst="rect">
                <a:avLst/>
              </a:prstGeom>
              <a:noFill/>
            </p:spPr>
            <p:txBody>
              <a:bodyPr wrap="square">
                <a:spAutoFit/>
              </a:bodyPr>
              <a:lstStyle/>
              <a:p>
                <a:pPr>
                  <a:buNone/>
                </a:pPr>
                <a:r>
                  <a:rPr lang="en-US" b="1" dirty="0"/>
                  <a:t>Mathematical formulation </a:t>
                </a:r>
                <a:endParaRPr lang="en-US" i="1" dirty="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𝐺</m:t>
                          </m:r>
                        </m:e>
                        <m:sub>
                          <m:r>
                            <a:rPr lang="ar-AE" i="1">
                              <a:latin typeface="Cambria Math" panose="02040503050406030204" pitchFamily="18" charset="0"/>
                            </a:rPr>
                            <m:t>𝑡</m:t>
                          </m:r>
                        </m:sub>
                      </m:sSub>
                      <m:r>
                        <a:rPr lang="ar-AE" i="0">
                          <a:latin typeface="Cambria Math" panose="02040503050406030204" pitchFamily="18" charset="0"/>
                        </a:rPr>
                        <m:t>=</m:t>
                      </m:r>
                      <m:nary>
                        <m:naryPr>
                          <m:chr m:val="∑"/>
                          <m:grow m:val="on"/>
                          <m:ctrlPr>
                            <a:rPr lang="ar-AE" i="1">
                              <a:latin typeface="Cambria Math" panose="02040503050406030204" pitchFamily="18" charset="0"/>
                            </a:rPr>
                          </m:ctrlPr>
                        </m:naryPr>
                        <m:sub>
                          <m:r>
                            <a:rPr lang="ar-AE" i="1">
                              <a:latin typeface="Cambria Math" panose="02040503050406030204" pitchFamily="18" charset="0"/>
                            </a:rPr>
                            <m:t>𝑘</m:t>
                          </m:r>
                          <m:r>
                            <a:rPr lang="ar-AE" i="0">
                              <a:latin typeface="Cambria Math" panose="02040503050406030204" pitchFamily="18" charset="0"/>
                            </a:rPr>
                            <m:t>=</m:t>
                          </m:r>
                          <m:r>
                            <a:rPr lang="ar-AE" i="1">
                              <a:latin typeface="Cambria Math" panose="02040503050406030204" pitchFamily="18" charset="0"/>
                            </a:rPr>
                            <m:t>𝑡</m:t>
                          </m:r>
                          <m:r>
                            <a:rPr lang="ar-AE" i="0">
                              <a:latin typeface="Cambria Math" panose="02040503050406030204" pitchFamily="18" charset="0"/>
                            </a:rPr>
                            <m:t>+</m:t>
                          </m:r>
                          <m:r>
                            <a:rPr lang="ar-AE" i="0">
                              <a:latin typeface="Cambria Math" panose="02040503050406030204" pitchFamily="18" charset="0"/>
                            </a:rPr>
                            <m:t>1</m:t>
                          </m:r>
                        </m:sub>
                        <m:sup>
                          <m:r>
                            <a:rPr lang="ar-AE" i="1">
                              <a:latin typeface="Cambria Math" panose="02040503050406030204" pitchFamily="18" charset="0"/>
                            </a:rPr>
                            <m:t>𝑇</m:t>
                          </m:r>
                        </m:sup>
                        <m:e>
                          <m:sSup>
                            <m:sSupPr>
                              <m:ctrlPr>
                                <a:rPr lang="ar-AE" i="1">
                                  <a:latin typeface="Cambria Math" panose="02040503050406030204" pitchFamily="18" charset="0"/>
                                </a:rPr>
                              </m:ctrlPr>
                            </m:sSupPr>
                            <m:e>
                              <m:r>
                                <a:rPr lang="ar-AE" i="1">
                                  <a:latin typeface="Cambria Math" panose="02040503050406030204" pitchFamily="18" charset="0"/>
                                </a:rPr>
                                <m:t>𝛾</m:t>
                              </m:r>
                            </m:e>
                            <m:sup>
                              <m:r>
                                <a:rPr lang="ar-AE" i="1">
                                  <a:latin typeface="Cambria Math" panose="02040503050406030204" pitchFamily="18" charset="0"/>
                                </a:rPr>
                                <m:t>𝑘</m:t>
                              </m:r>
                              <m:r>
                                <a:rPr lang="ar-AE" i="0">
                                  <a:latin typeface="Cambria Math" panose="02040503050406030204" pitchFamily="18" charset="0"/>
                                </a:rPr>
                                <m:t>−</m:t>
                              </m:r>
                              <m:r>
                                <a:rPr lang="ar-AE" i="1">
                                  <a:latin typeface="Cambria Math" panose="02040503050406030204" pitchFamily="18" charset="0"/>
                                </a:rPr>
                                <m:t>𝑡</m:t>
                              </m:r>
                              <m:r>
                                <a:rPr lang="ar-AE" i="0">
                                  <a:latin typeface="Cambria Math" panose="02040503050406030204" pitchFamily="18" charset="0"/>
                                </a:rPr>
                                <m:t>−</m:t>
                              </m:r>
                              <m:r>
                                <a:rPr lang="ar-AE" i="0">
                                  <a:latin typeface="Cambria Math" panose="02040503050406030204" pitchFamily="18" charset="0"/>
                                </a:rPr>
                                <m:t>1</m:t>
                              </m:r>
                            </m:sup>
                          </m:sSup>
                        </m:e>
                      </m:nary>
                      <m:sSub>
                        <m:sSubPr>
                          <m:ctrlPr>
                            <a:rPr lang="ar-AE" i="1">
                              <a:latin typeface="Cambria Math" panose="02040503050406030204" pitchFamily="18" charset="0"/>
                            </a:rPr>
                          </m:ctrlPr>
                        </m:sSubPr>
                        <m:e>
                          <m:r>
                            <a:rPr lang="ar-AE" i="1">
                              <a:latin typeface="Cambria Math" panose="02040503050406030204" pitchFamily="18" charset="0"/>
                            </a:rPr>
                            <m:t>𝑟</m:t>
                          </m:r>
                        </m:e>
                        <m:sub>
                          <m:r>
                            <a:rPr lang="ar-AE" i="1">
                              <a:latin typeface="Cambria Math" panose="02040503050406030204" pitchFamily="18" charset="0"/>
                            </a:rPr>
                            <m:t>𝑘</m:t>
                          </m:r>
                        </m:sub>
                      </m:sSub>
                    </m:oMath>
                  </m:oMathPara>
                </a14:m>
                <a:endParaRPr lang="ar-AE" dirty="0"/>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𝑄</m:t>
                      </m:r>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r>
                        <a:rPr lang="ar-AE" i="0">
                          <a:latin typeface="Cambria Math" panose="02040503050406030204" pitchFamily="18" charset="0"/>
                        </a:rPr>
                        <m:t>←</m:t>
                      </m:r>
                      <m:r>
                        <a:rPr lang="ar-AE" i="1">
                          <a:latin typeface="Cambria Math" panose="02040503050406030204" pitchFamily="18" charset="0"/>
                        </a:rPr>
                        <m:t>𝑄</m:t>
                      </m:r>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m:t>
                          </m:r>
                        </m:num>
                        <m:den>
                          <m:r>
                            <a:rPr lang="ar-AE" i="1">
                              <a:latin typeface="Cambria Math" panose="02040503050406030204" pitchFamily="18" charset="0"/>
                            </a:rPr>
                            <m:t>𝑁</m:t>
                          </m:r>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den>
                      </m:f>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𝐺</m:t>
                              </m:r>
                            </m:e>
                            <m:sub>
                              <m:r>
                                <a:rPr lang="ar-AE" i="1">
                                  <a:latin typeface="Cambria Math" panose="02040503050406030204" pitchFamily="18" charset="0"/>
                                </a:rPr>
                                <m:t>𝑡</m:t>
                              </m:r>
                            </m:sub>
                          </m:sSub>
                          <m:r>
                            <a:rPr lang="ar-AE" i="0">
                              <a:latin typeface="Cambria Math" panose="02040503050406030204" pitchFamily="18" charset="0"/>
                            </a:rPr>
                            <m:t>−</m:t>
                          </m:r>
                          <m:r>
                            <a:rPr lang="ar-AE" i="1">
                              <a:latin typeface="Cambria Math" panose="02040503050406030204" pitchFamily="18" charset="0"/>
                            </a:rPr>
                            <m:t>𝑄</m:t>
                          </m:r>
                          <m:d>
                            <m:dPr>
                              <m:sepChr m:val=","/>
                              <m:ctrlPr>
                                <a:rPr lang="ar-AE" i="1">
                                  <a:latin typeface="Cambria Math" panose="02040503050406030204" pitchFamily="18" charset="0"/>
                                </a:rPr>
                              </m:ctrlPr>
                            </m:dPr>
                            <m:e>
                              <m:r>
                                <a:rPr lang="ar-AE" i="1">
                                  <a:latin typeface="Cambria Math" panose="02040503050406030204" pitchFamily="18" charset="0"/>
                                </a:rPr>
                                <m:t>𝑠</m:t>
                              </m:r>
                            </m:e>
                            <m:e>
                              <m:r>
                                <a:rPr lang="ar-AE" i="1">
                                  <a:latin typeface="Cambria Math" panose="02040503050406030204" pitchFamily="18" charset="0"/>
                                </a:rPr>
                                <m:t>𝑎</m:t>
                              </m:r>
                            </m:e>
                          </m:d>
                        </m:e>
                      </m:d>
                    </m:oMath>
                  </m:oMathPara>
                </a14:m>
                <a:endParaRPr lang="ar-AE" dirty="0"/>
              </a:p>
            </p:txBody>
          </p:sp>
        </mc:Choice>
        <mc:Fallback>
          <p:sp>
            <p:nvSpPr>
              <p:cNvPr id="5" name="TextBox 4">
                <a:extLst>
                  <a:ext uri="{FF2B5EF4-FFF2-40B4-BE49-F238E27FC236}">
                    <a16:creationId xmlns:a16="http://schemas.microsoft.com/office/drawing/2014/main" id="{F8D2B9BC-21A3-7E2C-C8A4-154D924D2FA9}"/>
                  </a:ext>
                </a:extLst>
              </p:cNvPr>
              <p:cNvSpPr txBox="1">
                <a:spLocks noRot="1" noChangeAspect="1" noMove="1" noResize="1" noEditPoints="1" noAdjustHandles="1" noChangeArrowheads="1" noChangeShapeType="1" noTextEdit="1"/>
              </p:cNvSpPr>
              <p:nvPr/>
            </p:nvSpPr>
            <p:spPr>
              <a:xfrm>
                <a:off x="5987921" y="2613400"/>
                <a:ext cx="6097554" cy="1707840"/>
              </a:xfrm>
              <a:prstGeom prst="rect">
                <a:avLst/>
              </a:prstGeom>
              <a:blipFill>
                <a:blip r:embed="rId3"/>
                <a:stretch>
                  <a:fillRect l="-799" t="-2143"/>
                </a:stretch>
              </a:blipFill>
            </p:spPr>
            <p:txBody>
              <a:bodyPr/>
              <a:lstStyle/>
              <a:p>
                <a:r>
                  <a:rPr lang="en-US">
                    <a:noFill/>
                  </a:rPr>
                  <a:t> </a:t>
                </a:r>
              </a:p>
            </p:txBody>
          </p:sp>
        </mc:Fallback>
      </mc:AlternateContent>
    </p:spTree>
    <p:extLst>
      <p:ext uri="{BB962C8B-B14F-4D97-AF65-F5344CB8AC3E}">
        <p14:creationId xmlns:p14="http://schemas.microsoft.com/office/powerpoint/2010/main" val="166736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B7689-8889-1484-8A39-F089DD34A9B4}"/>
              </a:ext>
            </a:extLst>
          </p:cNvPr>
          <p:cNvSpPr>
            <a:spLocks noGrp="1"/>
          </p:cNvSpPr>
          <p:nvPr>
            <p:ph type="title"/>
          </p:nvPr>
        </p:nvSpPr>
        <p:spPr>
          <a:xfrm>
            <a:off x="1154953" y="973668"/>
            <a:ext cx="10097765" cy="706964"/>
          </a:xfrm>
        </p:spPr>
        <p:txBody>
          <a:bodyPr/>
          <a:lstStyle/>
          <a:p>
            <a:r>
              <a:rPr lang="en-US" dirty="0"/>
              <a:t>Training Configuration and Hyperparameters</a:t>
            </a:r>
          </a:p>
        </p:txBody>
      </p:sp>
      <p:sp>
        <p:nvSpPr>
          <p:cNvPr id="3" name="Content Placeholder 2">
            <a:extLst>
              <a:ext uri="{FF2B5EF4-FFF2-40B4-BE49-F238E27FC236}">
                <a16:creationId xmlns:a16="http://schemas.microsoft.com/office/drawing/2014/main" id="{24A0ED82-6236-60F3-0170-F680503E7567}"/>
              </a:ext>
            </a:extLst>
          </p:cNvPr>
          <p:cNvSpPr>
            <a:spLocks noGrp="1"/>
          </p:cNvSpPr>
          <p:nvPr>
            <p:ph idx="1"/>
          </p:nvPr>
        </p:nvSpPr>
        <p:spPr/>
        <p:txBody>
          <a:bodyPr>
            <a:normAutofit fontScale="85000" lnSpcReduction="20000"/>
          </a:bodyPr>
          <a:lstStyle/>
          <a:p>
            <a:r>
              <a:rPr lang="en-US" b="1" dirty="0"/>
              <a:t>Training algorithm</a:t>
            </a:r>
          </a:p>
          <a:p>
            <a:pPr lvl="1"/>
            <a:r>
              <a:rPr lang="en-US" dirty="0"/>
              <a:t>Monte Carlo Control (First-Visit)</a:t>
            </a:r>
          </a:p>
          <a:p>
            <a:pPr lvl="1"/>
            <a:r>
              <a:rPr lang="el-GR" dirty="0"/>
              <a:t>ε-</a:t>
            </a:r>
            <a:r>
              <a:rPr lang="en-US" dirty="0"/>
              <a:t>greedy exploration policy</a:t>
            </a:r>
          </a:p>
          <a:p>
            <a:r>
              <a:rPr lang="en-US" b="1" dirty="0"/>
              <a:t>Main hyperparameters</a:t>
            </a:r>
          </a:p>
          <a:p>
            <a:pPr lvl="1"/>
            <a:r>
              <a:rPr lang="en-US" dirty="0"/>
              <a:t>Number of episodes: 5,000 → 15,000</a:t>
            </a:r>
          </a:p>
          <a:p>
            <a:pPr lvl="1"/>
            <a:r>
              <a:rPr lang="en-US" dirty="0"/>
              <a:t>Discount factor </a:t>
            </a:r>
            <a:r>
              <a:rPr lang="el-GR" dirty="0"/>
              <a:t>γ = 1.0</a:t>
            </a:r>
          </a:p>
          <a:p>
            <a:pPr lvl="1"/>
            <a:r>
              <a:rPr lang="en-US" dirty="0"/>
              <a:t>Initial </a:t>
            </a:r>
            <a:r>
              <a:rPr lang="el-GR" dirty="0"/>
              <a:t>ε = 0.2</a:t>
            </a:r>
          </a:p>
          <a:p>
            <a:pPr lvl="1"/>
            <a:r>
              <a:rPr lang="en-US" dirty="0"/>
              <a:t>Final </a:t>
            </a:r>
            <a:r>
              <a:rPr lang="el-GR" dirty="0"/>
              <a:t>ε = 0.05</a:t>
            </a:r>
          </a:p>
          <a:p>
            <a:pPr lvl="1"/>
            <a:r>
              <a:rPr lang="en-US" dirty="0"/>
              <a:t>Maximum steps per episode = 500 / 800</a:t>
            </a:r>
          </a:p>
          <a:p>
            <a:r>
              <a:rPr lang="en-US" b="1" dirty="0"/>
              <a:t>Exploration strategy</a:t>
            </a:r>
          </a:p>
          <a:p>
            <a:pPr lvl="1"/>
            <a:r>
              <a:rPr lang="en-US" dirty="0"/>
              <a:t>Linear </a:t>
            </a:r>
            <a:r>
              <a:rPr lang="el-GR" dirty="0"/>
              <a:t>ε-</a:t>
            </a:r>
            <a:r>
              <a:rPr lang="en-US" dirty="0"/>
              <a:t>decay over episodes</a:t>
            </a:r>
          </a:p>
          <a:p>
            <a:endParaRPr lang="en-US" dirty="0"/>
          </a:p>
        </p:txBody>
      </p:sp>
    </p:spTree>
    <p:extLst>
      <p:ext uri="{BB962C8B-B14F-4D97-AF65-F5344CB8AC3E}">
        <p14:creationId xmlns:p14="http://schemas.microsoft.com/office/powerpoint/2010/main" val="3694416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9F0A4-5268-B0D3-B39C-ECF45E218A32}"/>
              </a:ext>
            </a:extLst>
          </p:cNvPr>
          <p:cNvSpPr>
            <a:spLocks noGrp="1"/>
          </p:cNvSpPr>
          <p:nvPr>
            <p:ph type="title"/>
          </p:nvPr>
        </p:nvSpPr>
        <p:spPr/>
        <p:txBody>
          <a:bodyPr/>
          <a:lstStyle/>
          <a:p>
            <a:r>
              <a:rPr lang="en-US" dirty="0"/>
              <a:t>Experimental Setup</a:t>
            </a:r>
          </a:p>
        </p:txBody>
      </p:sp>
      <p:sp>
        <p:nvSpPr>
          <p:cNvPr id="3" name="Content Placeholder 2">
            <a:extLst>
              <a:ext uri="{FF2B5EF4-FFF2-40B4-BE49-F238E27FC236}">
                <a16:creationId xmlns:a16="http://schemas.microsoft.com/office/drawing/2014/main" id="{C69071E8-69B9-1437-B768-AA0C558647D3}"/>
              </a:ext>
            </a:extLst>
          </p:cNvPr>
          <p:cNvSpPr>
            <a:spLocks noGrp="1"/>
          </p:cNvSpPr>
          <p:nvPr>
            <p:ph idx="1"/>
          </p:nvPr>
        </p:nvSpPr>
        <p:spPr/>
        <p:txBody>
          <a:bodyPr>
            <a:normAutofit fontScale="85000" lnSpcReduction="20000"/>
          </a:bodyPr>
          <a:lstStyle/>
          <a:p>
            <a:r>
              <a:rPr lang="en-US" b="1" dirty="0"/>
              <a:t>Evaluated on three grid environments:</a:t>
            </a:r>
          </a:p>
          <a:p>
            <a:pPr lvl="1"/>
            <a:r>
              <a:rPr lang="en-US" dirty="0"/>
              <a:t>Easy grid: small size, few obstacles</a:t>
            </a:r>
          </a:p>
          <a:p>
            <a:pPr lvl="1"/>
            <a:r>
              <a:rPr lang="en-US" dirty="0"/>
              <a:t>Medium grid: moderate size and obstacles</a:t>
            </a:r>
          </a:p>
          <a:p>
            <a:pPr lvl="1"/>
            <a:r>
              <a:rPr lang="en-US" dirty="0"/>
              <a:t>Hard grid: larger grid with many obstacles</a:t>
            </a:r>
          </a:p>
          <a:p>
            <a:r>
              <a:rPr lang="en-US" b="1" dirty="0"/>
              <a:t>For each grid:</a:t>
            </a:r>
          </a:p>
          <a:p>
            <a:pPr lvl="1"/>
            <a:r>
              <a:rPr lang="en-US" dirty="0"/>
              <a:t>Train Monte Carlo Control agent</a:t>
            </a:r>
          </a:p>
          <a:p>
            <a:pPr lvl="1"/>
            <a:r>
              <a:rPr lang="en-US" dirty="0"/>
              <a:t>Measure:</a:t>
            </a:r>
          </a:p>
          <a:p>
            <a:pPr lvl="2"/>
            <a:r>
              <a:rPr lang="en-US" dirty="0"/>
              <a:t>training runtime</a:t>
            </a:r>
          </a:p>
          <a:p>
            <a:pPr lvl="2"/>
            <a:r>
              <a:rPr lang="en-US" dirty="0"/>
              <a:t>learned Q-table size</a:t>
            </a:r>
          </a:p>
          <a:p>
            <a:pPr lvl="2"/>
            <a:r>
              <a:rPr lang="en-US" dirty="0"/>
              <a:t>greedy policy performance</a:t>
            </a:r>
          </a:p>
          <a:p>
            <a:r>
              <a:rPr lang="en-US" b="1" dirty="0"/>
              <a:t>Final policy evaluated using greedy action selection (</a:t>
            </a:r>
            <a:r>
              <a:rPr lang="el-GR" b="1" dirty="0"/>
              <a:t>ε = 0)</a:t>
            </a:r>
          </a:p>
          <a:p>
            <a:endParaRPr lang="en-US" dirty="0"/>
          </a:p>
        </p:txBody>
      </p:sp>
    </p:spTree>
    <p:extLst>
      <p:ext uri="{BB962C8B-B14F-4D97-AF65-F5344CB8AC3E}">
        <p14:creationId xmlns:p14="http://schemas.microsoft.com/office/powerpoint/2010/main" val="1077659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53F18-D2F0-2B7B-4C10-D9547C04ECEB}"/>
              </a:ext>
            </a:extLst>
          </p:cNvPr>
          <p:cNvSpPr>
            <a:spLocks noGrp="1"/>
          </p:cNvSpPr>
          <p:nvPr>
            <p:ph type="title"/>
          </p:nvPr>
        </p:nvSpPr>
        <p:spPr/>
        <p:txBody>
          <a:bodyPr/>
          <a:lstStyle/>
          <a:p>
            <a:r>
              <a:rPr lang="en-US" dirty="0"/>
              <a:t>Results on Easy and Medium Grids</a:t>
            </a:r>
          </a:p>
        </p:txBody>
      </p:sp>
      <p:sp>
        <p:nvSpPr>
          <p:cNvPr id="3" name="Content Placeholder 2">
            <a:extLst>
              <a:ext uri="{FF2B5EF4-FFF2-40B4-BE49-F238E27FC236}">
                <a16:creationId xmlns:a16="http://schemas.microsoft.com/office/drawing/2014/main" id="{22D12CDB-E072-16E6-94CF-BF2AAB7DADB3}"/>
              </a:ext>
            </a:extLst>
          </p:cNvPr>
          <p:cNvSpPr>
            <a:spLocks noGrp="1"/>
          </p:cNvSpPr>
          <p:nvPr>
            <p:ph idx="1"/>
          </p:nvPr>
        </p:nvSpPr>
        <p:spPr>
          <a:xfrm>
            <a:off x="1154955" y="2603500"/>
            <a:ext cx="5301829" cy="3416300"/>
          </a:xfrm>
        </p:spPr>
        <p:txBody>
          <a:bodyPr>
            <a:normAutofit fontScale="85000" lnSpcReduction="20000"/>
          </a:bodyPr>
          <a:lstStyle/>
          <a:p>
            <a:r>
              <a:rPr lang="en-US" b="1" dirty="0"/>
              <a:t>Easy grid</a:t>
            </a:r>
          </a:p>
          <a:p>
            <a:pPr lvl="1"/>
            <a:r>
              <a:rPr lang="en-US" dirty="0"/>
              <a:t>Agent successfully learns a short path to the target</a:t>
            </a:r>
          </a:p>
          <a:p>
            <a:pPr lvl="1"/>
            <a:r>
              <a:rPr lang="en-US" dirty="0"/>
              <a:t>Fast convergence</a:t>
            </a:r>
          </a:p>
          <a:p>
            <a:pPr lvl="1"/>
            <a:r>
              <a:rPr lang="en-US" dirty="0"/>
              <a:t>Stable greedy policy</a:t>
            </a:r>
          </a:p>
          <a:p>
            <a:r>
              <a:rPr lang="en-US" b="1" dirty="0"/>
              <a:t>Medium grid</a:t>
            </a:r>
          </a:p>
          <a:p>
            <a:pPr lvl="1"/>
            <a:r>
              <a:rPr lang="en-US" dirty="0"/>
              <a:t>Requires more exploration</a:t>
            </a:r>
          </a:p>
          <a:p>
            <a:pPr lvl="1"/>
            <a:r>
              <a:rPr lang="en-US" dirty="0"/>
              <a:t>Still converges to a valid solution</a:t>
            </a:r>
          </a:p>
          <a:p>
            <a:pPr lvl="1"/>
            <a:r>
              <a:rPr lang="en-US" dirty="0"/>
              <a:t>Slightly longer paths, but consistent success</a:t>
            </a:r>
          </a:p>
          <a:p>
            <a:r>
              <a:rPr lang="en-US" b="1" dirty="0"/>
              <a:t>Greedy policy evaluation</a:t>
            </a:r>
          </a:p>
          <a:p>
            <a:pPr lvl="1"/>
            <a:r>
              <a:rPr lang="en-US" dirty="0"/>
              <a:t>ε set to 0</a:t>
            </a:r>
          </a:p>
          <a:p>
            <a:pPr lvl="1"/>
            <a:r>
              <a:rPr lang="en-US" dirty="0"/>
              <a:t>Policy follows highest Q-value actions</a:t>
            </a:r>
          </a:p>
          <a:p>
            <a:endParaRPr lang="en-US" dirty="0"/>
          </a:p>
        </p:txBody>
      </p:sp>
      <p:pic>
        <p:nvPicPr>
          <p:cNvPr id="6" name="Picture 5">
            <a:extLst>
              <a:ext uri="{FF2B5EF4-FFF2-40B4-BE49-F238E27FC236}">
                <a16:creationId xmlns:a16="http://schemas.microsoft.com/office/drawing/2014/main" id="{FC294411-5151-75D1-1098-5A2839698EF8}"/>
              </a:ext>
            </a:extLst>
          </p:cNvPr>
          <p:cNvPicPr>
            <a:picLocks noChangeAspect="1"/>
          </p:cNvPicPr>
          <p:nvPr/>
        </p:nvPicPr>
        <p:blipFill>
          <a:blip r:embed="rId3"/>
          <a:srcRect l="9608" r="17687"/>
          <a:stretch>
            <a:fillRect/>
          </a:stretch>
        </p:blipFill>
        <p:spPr>
          <a:xfrm>
            <a:off x="6452116" y="2509444"/>
            <a:ext cx="2836500" cy="2926080"/>
          </a:xfrm>
          <a:prstGeom prst="rect">
            <a:avLst/>
          </a:prstGeom>
        </p:spPr>
      </p:pic>
      <p:pic>
        <p:nvPicPr>
          <p:cNvPr id="8" name="Picture 7">
            <a:extLst>
              <a:ext uri="{FF2B5EF4-FFF2-40B4-BE49-F238E27FC236}">
                <a16:creationId xmlns:a16="http://schemas.microsoft.com/office/drawing/2014/main" id="{E8805E1B-829F-1431-C96E-DFB89225A318}"/>
              </a:ext>
            </a:extLst>
          </p:cNvPr>
          <p:cNvPicPr>
            <a:picLocks noChangeAspect="1"/>
          </p:cNvPicPr>
          <p:nvPr/>
        </p:nvPicPr>
        <p:blipFill>
          <a:blip r:embed="rId4"/>
          <a:srcRect l="13189" r="17456"/>
          <a:stretch>
            <a:fillRect/>
          </a:stretch>
        </p:blipFill>
        <p:spPr>
          <a:xfrm>
            <a:off x="9414593" y="3871706"/>
            <a:ext cx="2705873" cy="2926080"/>
          </a:xfrm>
          <a:prstGeom prst="rect">
            <a:avLst/>
          </a:prstGeom>
        </p:spPr>
      </p:pic>
    </p:spTree>
    <p:extLst>
      <p:ext uri="{BB962C8B-B14F-4D97-AF65-F5344CB8AC3E}">
        <p14:creationId xmlns:p14="http://schemas.microsoft.com/office/powerpoint/2010/main" val="207490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812BA-68BD-577A-FF6A-78FBE79A57F1}"/>
              </a:ext>
            </a:extLst>
          </p:cNvPr>
          <p:cNvSpPr>
            <a:spLocks noGrp="1"/>
          </p:cNvSpPr>
          <p:nvPr>
            <p:ph type="title"/>
          </p:nvPr>
        </p:nvSpPr>
        <p:spPr/>
        <p:txBody>
          <a:bodyPr/>
          <a:lstStyle/>
          <a:p>
            <a:r>
              <a:rPr lang="en-US" dirty="0"/>
              <a:t>Results on Hard Grid – Failure Analysis</a:t>
            </a:r>
          </a:p>
        </p:txBody>
      </p:sp>
      <p:sp>
        <p:nvSpPr>
          <p:cNvPr id="3" name="Content Placeholder 2">
            <a:extLst>
              <a:ext uri="{FF2B5EF4-FFF2-40B4-BE49-F238E27FC236}">
                <a16:creationId xmlns:a16="http://schemas.microsoft.com/office/drawing/2014/main" id="{14377FE5-6C05-F136-86BF-B925B56119C2}"/>
              </a:ext>
            </a:extLst>
          </p:cNvPr>
          <p:cNvSpPr>
            <a:spLocks noGrp="1"/>
          </p:cNvSpPr>
          <p:nvPr>
            <p:ph idx="1"/>
          </p:nvPr>
        </p:nvSpPr>
        <p:spPr>
          <a:xfrm>
            <a:off x="1154955" y="2603499"/>
            <a:ext cx="5768359" cy="3021683"/>
          </a:xfrm>
        </p:spPr>
        <p:txBody>
          <a:bodyPr>
            <a:normAutofit fontScale="70000" lnSpcReduction="20000"/>
          </a:bodyPr>
          <a:lstStyle/>
          <a:p>
            <a:r>
              <a:rPr lang="en-US" b="1" dirty="0"/>
              <a:t>Hard grid characteristics</a:t>
            </a:r>
          </a:p>
          <a:p>
            <a:pPr lvl="1"/>
            <a:r>
              <a:rPr lang="en-US" dirty="0"/>
              <a:t>Larger grid size</a:t>
            </a:r>
          </a:p>
          <a:p>
            <a:pPr lvl="1"/>
            <a:r>
              <a:rPr lang="en-US" dirty="0"/>
              <a:t>High number of obstacles</a:t>
            </a:r>
          </a:p>
          <a:p>
            <a:pPr lvl="1"/>
            <a:r>
              <a:rPr lang="en-US" dirty="0"/>
              <a:t>Much larger state–action space</a:t>
            </a:r>
          </a:p>
          <a:p>
            <a:r>
              <a:rPr lang="en-US" b="1" dirty="0"/>
              <a:t>Observed behavior</a:t>
            </a:r>
          </a:p>
          <a:p>
            <a:pPr lvl="1"/>
            <a:r>
              <a:rPr lang="en-US" dirty="0"/>
              <a:t>Training time increases drastically</a:t>
            </a:r>
          </a:p>
          <a:p>
            <a:pPr lvl="1"/>
            <a:r>
              <a:rPr lang="en-US" dirty="0"/>
              <a:t>Q-table grows, but policy does not converge</a:t>
            </a:r>
          </a:p>
          <a:p>
            <a:pPr lvl="1"/>
            <a:r>
              <a:rPr lang="en-US" dirty="0"/>
              <a:t>Greedy policy fails to reach the target</a:t>
            </a:r>
          </a:p>
          <a:p>
            <a:r>
              <a:rPr lang="en-US" b="1" dirty="0"/>
              <a:t>Key reason</a:t>
            </a:r>
          </a:p>
          <a:p>
            <a:pPr lvl="1"/>
            <a:r>
              <a:rPr lang="en-US" dirty="0"/>
              <a:t>Sparse rewards and long episodes</a:t>
            </a:r>
          </a:p>
          <a:p>
            <a:pPr lvl="1"/>
            <a:r>
              <a:rPr lang="en-US" dirty="0"/>
              <a:t>Monte Carlo updates require full episode completion</a:t>
            </a:r>
          </a:p>
          <a:p>
            <a:endParaRPr lang="en-US" dirty="0"/>
          </a:p>
        </p:txBody>
      </p:sp>
      <p:pic>
        <p:nvPicPr>
          <p:cNvPr id="6" name="Picture 5">
            <a:extLst>
              <a:ext uri="{FF2B5EF4-FFF2-40B4-BE49-F238E27FC236}">
                <a16:creationId xmlns:a16="http://schemas.microsoft.com/office/drawing/2014/main" id="{0976C92E-78F6-CD97-24ED-42322AF0A6F2}"/>
              </a:ext>
            </a:extLst>
          </p:cNvPr>
          <p:cNvPicPr>
            <a:picLocks noChangeAspect="1"/>
          </p:cNvPicPr>
          <p:nvPr/>
        </p:nvPicPr>
        <p:blipFill>
          <a:blip r:embed="rId3"/>
          <a:srcRect l="12957" r="17527"/>
          <a:stretch>
            <a:fillRect/>
          </a:stretch>
        </p:blipFill>
        <p:spPr>
          <a:xfrm>
            <a:off x="7231225" y="2310250"/>
            <a:ext cx="4068147" cy="4389129"/>
          </a:xfrm>
          <a:prstGeom prst="rect">
            <a:avLst/>
          </a:prstGeom>
        </p:spPr>
      </p:pic>
      <p:pic>
        <p:nvPicPr>
          <p:cNvPr id="8" name="Picture 7">
            <a:extLst>
              <a:ext uri="{FF2B5EF4-FFF2-40B4-BE49-F238E27FC236}">
                <a16:creationId xmlns:a16="http://schemas.microsoft.com/office/drawing/2014/main" id="{AFF91951-F270-47A2-D8A3-AA419B8B18B1}"/>
              </a:ext>
            </a:extLst>
          </p:cNvPr>
          <p:cNvPicPr>
            <a:picLocks noChangeAspect="1"/>
          </p:cNvPicPr>
          <p:nvPr/>
        </p:nvPicPr>
        <p:blipFill>
          <a:blip r:embed="rId4"/>
          <a:srcRect r="23683"/>
          <a:stretch>
            <a:fillRect/>
          </a:stretch>
        </p:blipFill>
        <p:spPr>
          <a:xfrm>
            <a:off x="1262962" y="5625182"/>
            <a:ext cx="5682121" cy="1013548"/>
          </a:xfrm>
          <a:prstGeom prst="rect">
            <a:avLst/>
          </a:prstGeom>
        </p:spPr>
      </p:pic>
    </p:spTree>
    <p:extLst>
      <p:ext uri="{BB962C8B-B14F-4D97-AF65-F5344CB8AC3E}">
        <p14:creationId xmlns:p14="http://schemas.microsoft.com/office/powerpoint/2010/main" val="3769708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9C265-870D-FD08-1A71-D9D593825BCA}"/>
              </a:ext>
            </a:extLst>
          </p:cNvPr>
          <p:cNvSpPr>
            <a:spLocks noGrp="1"/>
          </p:cNvSpPr>
          <p:nvPr>
            <p:ph type="title"/>
          </p:nvPr>
        </p:nvSpPr>
        <p:spPr/>
        <p:txBody>
          <a:bodyPr/>
          <a:lstStyle/>
          <a:p>
            <a:r>
              <a:rPr lang="en-US" dirty="0"/>
              <a:t>Runtime Analysis and Key Takeaways</a:t>
            </a:r>
          </a:p>
        </p:txBody>
      </p:sp>
      <p:sp>
        <p:nvSpPr>
          <p:cNvPr id="3" name="Content Placeholder 2">
            <a:extLst>
              <a:ext uri="{FF2B5EF4-FFF2-40B4-BE49-F238E27FC236}">
                <a16:creationId xmlns:a16="http://schemas.microsoft.com/office/drawing/2014/main" id="{7F4BF4BB-F1F5-5694-7C53-A59F209299D0}"/>
              </a:ext>
            </a:extLst>
          </p:cNvPr>
          <p:cNvSpPr>
            <a:spLocks noGrp="1"/>
          </p:cNvSpPr>
          <p:nvPr>
            <p:ph idx="1"/>
          </p:nvPr>
        </p:nvSpPr>
        <p:spPr>
          <a:xfrm>
            <a:off x="559837" y="2603499"/>
            <a:ext cx="5717787" cy="4030565"/>
          </a:xfrm>
        </p:spPr>
        <p:txBody>
          <a:bodyPr>
            <a:normAutofit fontScale="92500" lnSpcReduction="10000"/>
          </a:bodyPr>
          <a:lstStyle/>
          <a:p>
            <a:r>
              <a:rPr lang="en-US" b="1" dirty="0"/>
              <a:t>Runtime behavior</a:t>
            </a:r>
          </a:p>
          <a:p>
            <a:pPr lvl="1"/>
            <a:r>
              <a:rPr lang="en-US" dirty="0"/>
              <a:t>Training time increases sharply with grid complexity</a:t>
            </a:r>
          </a:p>
          <a:p>
            <a:pPr lvl="1"/>
            <a:r>
              <a:rPr lang="en-US" dirty="0"/>
              <a:t>Hard grid requires orders of magnitude more computation</a:t>
            </a:r>
          </a:p>
          <a:p>
            <a:r>
              <a:rPr lang="en-US" b="1" dirty="0"/>
              <a:t>Scalability limitation</a:t>
            </a:r>
          </a:p>
          <a:p>
            <a:pPr lvl="1"/>
            <a:r>
              <a:rPr lang="en-US" dirty="0"/>
              <a:t>Monte Carlo Control does not scale well to large state spaces</a:t>
            </a:r>
          </a:p>
          <a:p>
            <a:pPr lvl="1"/>
            <a:r>
              <a:rPr lang="en-US" dirty="0"/>
              <a:t>Long episodes + sparse rewards slow convergence</a:t>
            </a:r>
          </a:p>
          <a:p>
            <a:r>
              <a:rPr lang="en-US" b="1" dirty="0"/>
              <a:t>Key takeaway</a:t>
            </a:r>
          </a:p>
          <a:p>
            <a:pPr lvl="1"/>
            <a:r>
              <a:rPr lang="en-US" dirty="0"/>
              <a:t>Monte Carlo Control works well for small and medium problems</a:t>
            </a:r>
          </a:p>
          <a:p>
            <a:pPr lvl="1"/>
            <a:r>
              <a:rPr lang="en-US" dirty="0"/>
              <a:t>Alternative methods (e.g., TD learning) are better suited for harder grids</a:t>
            </a:r>
          </a:p>
          <a:p>
            <a:endParaRPr lang="en-US" dirty="0"/>
          </a:p>
        </p:txBody>
      </p:sp>
      <p:pic>
        <p:nvPicPr>
          <p:cNvPr id="5" name="Picture 4">
            <a:extLst>
              <a:ext uri="{FF2B5EF4-FFF2-40B4-BE49-F238E27FC236}">
                <a16:creationId xmlns:a16="http://schemas.microsoft.com/office/drawing/2014/main" id="{A6C682CF-5884-8C4C-352E-0F41EC45D33E}"/>
              </a:ext>
            </a:extLst>
          </p:cNvPr>
          <p:cNvPicPr>
            <a:picLocks noChangeAspect="1"/>
          </p:cNvPicPr>
          <p:nvPr/>
        </p:nvPicPr>
        <p:blipFill>
          <a:blip r:embed="rId3"/>
          <a:stretch>
            <a:fillRect/>
          </a:stretch>
        </p:blipFill>
        <p:spPr>
          <a:xfrm>
            <a:off x="6277624" y="2272939"/>
            <a:ext cx="5852172" cy="4389129"/>
          </a:xfrm>
          <a:prstGeom prst="rect">
            <a:avLst/>
          </a:prstGeom>
        </p:spPr>
      </p:pic>
      <p:sp>
        <p:nvSpPr>
          <p:cNvPr id="7" name="TextBox 6">
            <a:extLst>
              <a:ext uri="{FF2B5EF4-FFF2-40B4-BE49-F238E27FC236}">
                <a16:creationId xmlns:a16="http://schemas.microsoft.com/office/drawing/2014/main" id="{2E39C2D3-A63B-4018-0399-91502664E060}"/>
              </a:ext>
            </a:extLst>
          </p:cNvPr>
          <p:cNvSpPr txBox="1"/>
          <p:nvPr/>
        </p:nvSpPr>
        <p:spPr>
          <a:xfrm>
            <a:off x="6618514" y="6525021"/>
            <a:ext cx="5511282" cy="276999"/>
          </a:xfrm>
          <a:prstGeom prst="rect">
            <a:avLst/>
          </a:prstGeom>
          <a:noFill/>
        </p:spPr>
        <p:txBody>
          <a:bodyPr wrap="square">
            <a:spAutoFit/>
          </a:bodyPr>
          <a:lstStyle/>
          <a:p>
            <a:r>
              <a:rPr lang="en-US" sz="1200" dirty="0">
                <a:solidFill>
                  <a:schemeClr val="tx1">
                    <a:lumMod val="75000"/>
                    <a:lumOff val="25000"/>
                  </a:schemeClr>
                </a:solidFill>
              </a:rPr>
              <a:t>Training runtime as a function of grid difficulty (number of obstacles)</a:t>
            </a:r>
          </a:p>
        </p:txBody>
      </p:sp>
    </p:spTree>
    <p:extLst>
      <p:ext uri="{BB962C8B-B14F-4D97-AF65-F5344CB8AC3E}">
        <p14:creationId xmlns:p14="http://schemas.microsoft.com/office/powerpoint/2010/main" val="3146231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4B282-ACCC-3061-6B0A-D95F2D4F897A}"/>
              </a:ext>
            </a:extLst>
          </p:cNvPr>
          <p:cNvSpPr>
            <a:spLocks noGrp="1"/>
          </p:cNvSpPr>
          <p:nvPr>
            <p:ph type="title"/>
          </p:nvPr>
        </p:nvSpPr>
        <p:spPr>
          <a:xfrm>
            <a:off x="1154953" y="973668"/>
            <a:ext cx="10135088" cy="706964"/>
          </a:xfrm>
        </p:spPr>
        <p:txBody>
          <a:bodyPr/>
          <a:lstStyle/>
          <a:p>
            <a:r>
              <a:rPr lang="en-US" dirty="0"/>
              <a:t>Reproducibility and Implementation Details</a:t>
            </a:r>
          </a:p>
        </p:txBody>
      </p:sp>
      <p:sp>
        <p:nvSpPr>
          <p:cNvPr id="3" name="Content Placeholder 2">
            <a:extLst>
              <a:ext uri="{FF2B5EF4-FFF2-40B4-BE49-F238E27FC236}">
                <a16:creationId xmlns:a16="http://schemas.microsoft.com/office/drawing/2014/main" id="{4889DE1F-EC04-A546-29A1-DA5E46B34FA4}"/>
              </a:ext>
            </a:extLst>
          </p:cNvPr>
          <p:cNvSpPr>
            <a:spLocks noGrp="1"/>
          </p:cNvSpPr>
          <p:nvPr>
            <p:ph idx="1"/>
          </p:nvPr>
        </p:nvSpPr>
        <p:spPr>
          <a:xfrm>
            <a:off x="1154955" y="2603500"/>
            <a:ext cx="5143208" cy="3416300"/>
          </a:xfrm>
        </p:spPr>
        <p:txBody>
          <a:bodyPr>
            <a:normAutofit fontScale="77500" lnSpcReduction="20000"/>
          </a:bodyPr>
          <a:lstStyle/>
          <a:p>
            <a:r>
              <a:rPr lang="en-US" b="1" dirty="0"/>
              <a:t>From-scratch implementation</a:t>
            </a:r>
          </a:p>
          <a:p>
            <a:pPr lvl="1"/>
            <a:r>
              <a:rPr lang="en-US" dirty="0"/>
              <a:t>No RL libraries used (e.g., no Gym, no Stable-Baselines)</a:t>
            </a:r>
          </a:p>
          <a:p>
            <a:pPr lvl="1"/>
            <a:r>
              <a:rPr lang="en-US" dirty="0"/>
              <a:t>All components implemented manually</a:t>
            </a:r>
          </a:p>
          <a:p>
            <a:r>
              <a:rPr lang="en-US" b="1" dirty="0"/>
              <a:t>Reproducibility</a:t>
            </a:r>
          </a:p>
          <a:p>
            <a:pPr lvl="1"/>
            <a:r>
              <a:rPr lang="en-US" dirty="0"/>
              <a:t>Fixed random seeds during training</a:t>
            </a:r>
          </a:p>
          <a:p>
            <a:pPr lvl="1"/>
            <a:r>
              <a:rPr lang="en-US" dirty="0"/>
              <a:t>Deterministic environment dynamics</a:t>
            </a:r>
          </a:p>
          <a:p>
            <a:r>
              <a:rPr lang="en-US" b="1" dirty="0"/>
              <a:t>Code structure</a:t>
            </a:r>
          </a:p>
          <a:p>
            <a:pPr lvl="1"/>
            <a:r>
              <a:rPr lang="en-US" dirty="0"/>
              <a:t>Clear separation:</a:t>
            </a:r>
          </a:p>
          <a:p>
            <a:pPr lvl="2"/>
            <a:r>
              <a:rPr lang="en-US" dirty="0"/>
              <a:t>environment (grid.py)</a:t>
            </a:r>
          </a:p>
          <a:p>
            <a:pPr lvl="2"/>
            <a:r>
              <a:rPr lang="en-US" dirty="0"/>
              <a:t>episode generation (episode.py)</a:t>
            </a:r>
          </a:p>
          <a:p>
            <a:pPr lvl="2"/>
            <a:r>
              <a:rPr lang="en-US" dirty="0"/>
              <a:t>learning (montecarlo.py)</a:t>
            </a:r>
          </a:p>
          <a:p>
            <a:pPr lvl="2"/>
            <a:r>
              <a:rPr lang="en-US" dirty="0"/>
              <a:t>evaluation (benchmark.py)</a:t>
            </a:r>
          </a:p>
          <a:p>
            <a:endParaRPr lang="en-US" dirty="0"/>
          </a:p>
        </p:txBody>
      </p:sp>
      <p:sp>
        <p:nvSpPr>
          <p:cNvPr id="12" name="Content Placeholder 2">
            <a:extLst>
              <a:ext uri="{FF2B5EF4-FFF2-40B4-BE49-F238E27FC236}">
                <a16:creationId xmlns:a16="http://schemas.microsoft.com/office/drawing/2014/main" id="{D21AA743-0E88-64BC-C02D-CEA9609B34CC}"/>
              </a:ext>
            </a:extLst>
          </p:cNvPr>
          <p:cNvSpPr txBox="1">
            <a:spLocks/>
          </p:cNvSpPr>
          <p:nvPr/>
        </p:nvSpPr>
        <p:spPr>
          <a:xfrm>
            <a:off x="6298163" y="2603500"/>
            <a:ext cx="5449078" cy="3416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US" sz="1400" b="1" dirty="0"/>
              <a:t>Results reproducibility</a:t>
            </a:r>
            <a:endParaRPr lang="en-US" sz="1400" dirty="0"/>
          </a:p>
          <a:p>
            <a:pPr lvl="1"/>
            <a:r>
              <a:rPr lang="en-US" sz="1400" dirty="0"/>
              <a:t>Same trends observed across repeated runs</a:t>
            </a:r>
          </a:p>
          <a:p>
            <a:pPr lvl="1"/>
            <a:r>
              <a:rPr lang="en-US" sz="1400" dirty="0"/>
              <a:t>Hard grid consistently fails due to algorithmic limitations</a:t>
            </a:r>
          </a:p>
          <a:p>
            <a:endParaRPr lang="en-US" dirty="0"/>
          </a:p>
        </p:txBody>
      </p:sp>
    </p:spTree>
    <p:extLst>
      <p:ext uri="{BB962C8B-B14F-4D97-AF65-F5344CB8AC3E}">
        <p14:creationId xmlns:p14="http://schemas.microsoft.com/office/powerpoint/2010/main" val="39030335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TM02900722[[fn=Ion Boardroom]]</Template>
  <TotalTime>68</TotalTime>
  <Words>1201</Words>
  <Application>Microsoft Office PowerPoint</Application>
  <PresentationFormat>Widescreen</PresentationFormat>
  <Paragraphs>172</Paragraphs>
  <Slides>13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Cambria Math</vt:lpstr>
      <vt:lpstr>Century Gothic</vt:lpstr>
      <vt:lpstr>Wingdings 3</vt:lpstr>
      <vt:lpstr>Ion Boardroom</vt:lpstr>
      <vt:lpstr>Monte Carlo Control for Grid-Based Path Finding</vt:lpstr>
      <vt:lpstr>Problem Definition</vt:lpstr>
      <vt:lpstr>Environment and Grid World Setup</vt:lpstr>
      <vt:lpstr>Monte Carlo Control (First-Visit, ε-Greedy)</vt:lpstr>
      <vt:lpstr>State, Action and Return Representation</vt:lpstr>
      <vt:lpstr>Episode Generation using ε-Greedy Policy</vt:lpstr>
      <vt:lpstr>First-Visit Monte Carlo Update Rule</vt:lpstr>
      <vt:lpstr>Training Configuration and Hyperparameters</vt:lpstr>
      <vt:lpstr>Experimental Setup</vt:lpstr>
      <vt:lpstr>Results on Easy and Medium Grids</vt:lpstr>
      <vt:lpstr>Results on Hard Grid – Failure Analysis</vt:lpstr>
      <vt:lpstr>Runtime Analysis and Key Takeaways</vt:lpstr>
      <vt:lpstr>Reproducibility and Implementation Details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Adeel Shakir</dc:creator>
  <cp:lastModifiedBy>Adeel Shakir</cp:lastModifiedBy>
  <cp:revision>27</cp:revision>
  <dcterms:created xsi:type="dcterms:W3CDTF">2026-01-22T12:59:39Z</dcterms:created>
  <dcterms:modified xsi:type="dcterms:W3CDTF">2026-01-22T14:07:49Z</dcterms:modified>
</cp:coreProperties>
</file>